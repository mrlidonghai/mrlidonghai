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54864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TEAM ALIGNMENT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2779776"/>
            <a:ext cx="640080" cy="0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" y="2953512"/>
            <a:ext cx="7242048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D594C"/>
                </a:solidFill>
                <a:latin typeface="Segoe UI"/>
              </a:rPr>
              <a:t>IFC Preparation</a:t>
            </a:r>
          </a:p>
          <a:p>
            <a:pPr algn="l"/>
            <a:r>
              <a:rPr sz="3400" b="1" i="0">
                <a:solidFill>
                  <a:srgbClr val="A33D2E"/>
                </a:solidFill>
                <a:latin typeface="Segoe UI"/>
              </a:rPr>
              <a:t>Airfield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0916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C7464"/>
                </a:solidFill>
                <a:latin typeface="Segoe UI"/>
              </a:rPr>
              <a:t>Gelephu Airport (GLU) · Package 1 — Structuring the Issued-For-Construction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A493F"/>
                </a:solidFill>
                <a:latin typeface="Segoe UI"/>
              </a:rPr>
              <a:t>APMT / PMO · Project Management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97296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C7464"/>
                </a:solidFill>
                <a:latin typeface="Segoe UI"/>
              </a:rPr>
              <a:t>Airfield (P01) → Asset/Zone → Discipline/System → Document Type → Number → Revision/Status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This alignment covers scope, the IFC organising principle, the work-area matrix, controls, coding and the issue gate — for the Airfield package 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Scope &amp;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3 — Scope of this IFC (Airfield)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4 — Why align now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5 — Organising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54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600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Structure &amp;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103120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6 — Airfield work-area matrix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7 — Volume structure V0–V8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8 — Master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5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Coding &amp; Interfaces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79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9 — Key interfaces &amp; hold points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10 — Drawing coding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11 — Specification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97763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402335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Gate, Roles &amp;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4526279"/>
            <a:ext cx="3383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12 — IFC issue checklist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13 — Roles &amp; lead ownership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A493F"/>
                </a:solidFill>
                <a:latin typeface="Segoe UI"/>
              </a:rPr>
              <a:t>▸  Slide 14 — Next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Scope of This IFC — Airfield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Package 1 (purple zone). The PTB &amp; Landside package is a separate contract and is NOT part of this IFC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444752"/>
            <a:ext cx="4160520" cy="347472"/>
          </a:xfrm>
          <a:prstGeom prst="rect">
            <a:avLst/>
          </a:prstGeom>
          <a:solidFill>
            <a:srgbClr val="A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In Scope — Airfield Works (P01)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92224"/>
            <a:ext cx="4160520" cy="26974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01952"/>
            <a:ext cx="38862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Aircraft pavement — runway, taxiways, apron stands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Airfield drainage, culverts &amp; river-crossing works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Earthworks &amp; ground improvement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Airfield Ground Lighting (AGL) &amp; ALCMS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Markings, signage &amp; visual aids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NAVAIDS / ANS (ILS, DME)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Meteorological systems (MET)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Integrated Building — ATCT, ARFF &amp; MET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Perimeter fencing, security &amp; access gates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Airside roads, car park &amp; utilities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444752"/>
            <a:ext cx="4114800" cy="347472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444752"/>
            <a:ext cx="39776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NSC / Specialist Equipment (subcontractors)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792224"/>
            <a:ext cx="4114800" cy="123444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901952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AGL equipment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NAVAIDS — ILS system equipment, DME, etc.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ATCT special equipment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Meteorological equipment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3154680"/>
            <a:ext cx="4114800" cy="1335024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325526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33D2E"/>
                </a:solidFill>
                <a:latin typeface="Segoe UI"/>
              </a:rPr>
              <a:t>Interface to keep in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547872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Apron edge, PBB / AVDGS positions and stand services tie to the PTB &amp; Landside package — coordinate the boundary even though those systems sit outside this IFC.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617720"/>
            <a:ext cx="8321040" cy="36576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Boundary — PTB &amp; Landside Package (separate contract, not in this IFC)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983480"/>
            <a:ext cx="8321040" cy="8412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7492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PTB &amp; PTB Annex · Canopy &amp; Arrival Plaza · Ceremonial Lounge · landside roads, car park, landscape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493F"/>
                </a:solidFill>
                <a:latin typeface="Segoe UI"/>
              </a:rPr>
              <a:t>•  Terminal systems — BHS, HBS, PBB, AVDGS, PSS, FIDS, etc.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94360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C7464"/>
                </a:solidFill>
                <a:latin typeface="Segoe UI"/>
              </a:rPr>
              <a:t>Remark: the list is not exhaustive — refer to the design for full details.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Why Align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The airfield is in tender / bid evaluation — a clean, controlled IFC set directly drives bid pricing, clarifications and claims exposure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517904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17904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Airfield is in tender / bid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IFC quality feeds bid pricing and risk premium directly. A controlled set reduces clarifications and EOT / claims exposure during evaluation, award and construction supervision.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BoQ gaps already flagged (~16 items)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34056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ARFF vehicles, GSE, MET attribution, SFL units, CCTV / ICT active equipment, zero-quantity items, CAT I, etc. The IFC register must reconcile drawings, specifications and BoQ.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5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28415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BCAA equipment compatibility unresolved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1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MET / ATC equipment specifications are not yet aligned with BCAA. Resolve, or clearly flag as pending clarification, before freezing the airfield IFC.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33672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33672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Aerodrome certification clock is running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44568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BCAA certification takes ~2–3 years from design submission to operational approval. The airfield IFC feeds flight calibration and aerodrome certification — sequence accordingly.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138928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38928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One controlled register before first freeze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9824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Avoid an uncontrolled airfield drawing list mixing pavement, AGL, NAVAIDS, MET, the integrated building and NSC equipment into one uncontrolled 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044184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33D2E"/>
                </a:solidFill>
                <a:latin typeface="Segoe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44184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Build on the existing PMO data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35508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Re-use WIP / Issued / Submission / Milestone Review folders and naming; add a stable IFC drawing number that does not change with the file name or issue date.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Organising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The package is fixed (Airfield / P01). Organise everything below it by asset/zone, then discipline/system, then document type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828800"/>
            <a:ext cx="1298448" cy="9601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Airfield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P01 —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1368" y="1828800"/>
            <a:ext cx="1298448" cy="96012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Asset /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RWY · TWY · APR · DRN · IBG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7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56" y="1828800"/>
            <a:ext cx="1298448" cy="9601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Discipline /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CV · DR · AGL · NAV · MET · 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81144" y="1828800"/>
            <a:ext cx="1298448" cy="96012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Document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Drawing · Spec · Schedule ·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4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2" y="1828800"/>
            <a:ext cx="1298448" cy="9601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Stable, date-independent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144268"/>
            <a:ext cx="146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8C7464"/>
                </a:solidFill>
                <a:latin typeface="Segoe U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1828800"/>
            <a:ext cx="1298448" cy="96012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Revision /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2852927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5A493F"/>
                </a:solidFill>
                <a:latin typeface="Segoe UI"/>
              </a:rPr>
              <a:t>IFC · Superseded · As-Built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94760"/>
            <a:ext cx="8275320" cy="77724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04487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C7464"/>
                </a:solidFill>
                <a:latin typeface="Segoe UI"/>
              </a:rPr>
              <a:t>Worked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594C"/>
                </a:solidFill>
                <a:latin typeface="Segoe UI"/>
              </a:rPr>
              <a:t>GLU-P01-RWY-CV-PLN-0001  =  Airfield · Runway · Civil · Plan · drawing 0001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00600"/>
            <a:ext cx="8275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493F"/>
                </a:solidFill>
                <a:latin typeface="Segoe UI"/>
              </a:rPr>
              <a:t>Why it works: every airfield document resolves to a zone, discipline, type and revision — so pavement, AGL, NAVAIDS, MET, the integrated building and NSC equipment never collapse into one uncontrolled list. This keeps FIDIC administration, tender evaluation, award and claims management navigable.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Airfield Work-Area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Ten work areas inside Package 1 — each with its key works, primary disciplines, interfaces / hold points and owner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481328"/>
            <a:ext cx="2148840" cy="2743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Work Area /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481328"/>
            <a:ext cx="3246120" cy="2743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Key Works &amp; Disciplines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481328"/>
            <a:ext cx="1874519" cy="2743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Key Interface / Hold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481328"/>
            <a:ext cx="1143000" cy="2743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55648"/>
            <a:ext cx="214884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Runway, Taxiways &amp; Apron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755648"/>
            <a:ext cx="324612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Aircraft pavement, geometry, markings, FOD, stands — CV / pavement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755648"/>
            <a:ext cx="1874519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Apron–PBB/AVDGS (PTB pkg) · GSE · fuel · OLS / airspace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755648"/>
            <a:ext cx="114300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1284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Earthworks &amp; Ground Improvement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212848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Cut / fill, slopes, surcharge, ground treatment — geotech / 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212848"/>
            <a:ext cx="187451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SI &amp; ESIA · river training · schedule float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212848"/>
            <a:ext cx="1143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70048"/>
            <a:ext cx="214884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Airfield Drainage &amp; Culverts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670048"/>
            <a:ext cx="324612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Drainage, culverts, river-crossing works — DR / CV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670048"/>
            <a:ext cx="1874519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ESIA &amp; hydrology · landside outfall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2670048"/>
            <a:ext cx="114300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2724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AGL, ALCMS &amp; Visual Aids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127248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Ground lighting, ALCMS, markings, signage — AGL / 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127248"/>
            <a:ext cx="187451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Power supply · NAVAIDS · BCAA standards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3127248"/>
            <a:ext cx="1143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 / AGL spec.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84448"/>
            <a:ext cx="214884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NAVAIDS / ANS (ILS, DME)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3584448"/>
            <a:ext cx="324612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Equipment siting, critical / sensitive areas — NAV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584448"/>
            <a:ext cx="1874519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Airspace · DoAT · BCAA · flight calibration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3584448"/>
            <a:ext cx="114300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NAVAIDS spec.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4164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Meteorological Systems (MET)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041648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AWOS, sensor siting, displays — MET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4041648"/>
            <a:ext cx="187451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NCHM · BCAA · ATCT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4041648"/>
            <a:ext cx="1143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MET spec. / NCHM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98848"/>
            <a:ext cx="214884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Integrated Building (ATCT/ARFF/MET)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4498848"/>
            <a:ext cx="324612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Tower, ops rooms, ARFF station — AR/ST/ME/EL/ICT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498848"/>
            <a:ext cx="1874519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ANS &amp; MET equipment · power · water supply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4498848"/>
            <a:ext cx="114300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 / Aurecon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5604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Perimeter, Security &amp;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4956048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Fencing, gates, PIDS, patrol roads — SEC / CV / 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4956048"/>
            <a:ext cx="187451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Security ops · landside boundary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956048"/>
            <a:ext cx="1143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413248"/>
            <a:ext cx="214884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Airside Roads, Car Park &amp; Utilities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5413248"/>
            <a:ext cx="324612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Service roads, car park, airside utilities — CV/ME/EL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5413248"/>
            <a:ext cx="1874519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Landside utilities tie-in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5413248"/>
            <a:ext cx="1143000" cy="4572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CAPE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870448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800" b="1" i="0">
                <a:solidFill>
                  <a:srgbClr val="A33D2E"/>
                </a:solidFill>
                <a:latin typeface="Segoe UI"/>
              </a:rPr>
              <a:t>NSC / Specialist Equipment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5870448"/>
            <a:ext cx="3246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AGL eqpt · ILS / DME · ATC special · MET eqpt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5870448"/>
            <a:ext cx="187451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FAT/SAT/T&amp;C · BCAA compatibility · main-works interface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5240" y="5870448"/>
            <a:ext cx="1143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38100" tIns="12700" bIns="12700"/>
          <a:lstStyle/>
          <a:p>
            <a:pPr algn="l"/>
            <a:r>
              <a:rPr sz="750" b="1" i="0">
                <a:solidFill>
                  <a:srgbClr val="3E5C76"/>
                </a:solidFill>
                <a:latin typeface="Segoe UI"/>
              </a:rPr>
              <a:t>APMT / Spec.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Document Volume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The same Volume 0–8 logic for the airfield package, so PM/CS teams and bidders navigate consistently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481328"/>
            <a:ext cx="731520" cy="480059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481328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517904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IFC Master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17904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One controlled register of every airfield drawing, spec, report, model &amp; reference document in the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5395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25395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025395"/>
            <a:ext cx="7635240" cy="480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061972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Governing / Contract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61972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Conditions of Contract · Particular Conditions · contract data · forms · clarifications &amp; addenda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69464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69464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569464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606040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Technical Specifications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06040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Airfield specs by zone, discipline &amp; system — pavement, drainage, AGL, NAVAIDS, MET, integrated building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13532"/>
            <a:ext cx="731520" cy="480059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13532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3113532"/>
            <a:ext cx="7635240" cy="480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150108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BoQ / Pricing Schedules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150108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BoQ · rates · provisional sums · PC items · NSC pricing split · measurement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57600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3657600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3694176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Drawings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694176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Airfield IFC drawings grouped by zone, discipline &amp; drawing 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1668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01668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4201668"/>
            <a:ext cx="7635240" cy="480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238244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Reports / Site Information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238244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SI · geotech · hydrology · ESIA · survey · existing utilities — mark 'Contractual' vs 'For Info Only'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45736"/>
            <a:ext cx="731520" cy="480059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745736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4745736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782312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Project / GMC / Authority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782312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GMC · sustainability · OHS · BIM/CDE · local workforce · BCAA &amp; aerodrome certification requirements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289804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289804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5289804"/>
            <a:ext cx="7635240" cy="4800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5326380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BIM / Digital Deliverables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326380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Airfield models · RVT/NWC/NWD/IFC · clash reports · model status · BEP · BIM QC · handover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833872"/>
            <a:ext cx="731520" cy="480059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833872"/>
            <a:ext cx="731520" cy="4800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V8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5833872"/>
            <a:ext cx="7635240" cy="480059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0" y="5870448"/>
            <a:ext cx="2743200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6D594C"/>
                </a:solidFill>
                <a:latin typeface="Segoe UI"/>
              </a:rPr>
              <a:t>Interface &amp; Authority Register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870448"/>
            <a:ext cx="5029199" cy="43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A493F"/>
                </a:solidFill>
                <a:latin typeface="Segoe UI"/>
              </a:rPr>
              <a:t>Interface matrix · BCAA / DoAT / NCHM tracker · RFI/TQ close-out · deviation register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Master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The core control matrix APMT maintains for the airfield package — the single source of truth for the IFC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46304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Package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9047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P01 Airfield (fixed)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9738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481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Asset /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2481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Runway · Taxiway · Apron · Drainage · Earthworks · Integrated Building · ARFF · Perimeter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5915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Discipline /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35915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CV DR AGL NAV MET ST AR ME EL SEC GEN BIM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606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9349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Document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79349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Drawing · Spec · Schedule · Report · Model · Calc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Document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22783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Stable number — NOT dependent on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3474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6217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Document Title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66217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Full drawing or specification 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69079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9651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Revision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09651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A/B/C · Rev 0/1 · IFC-A/IFC-B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0342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3085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53085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WIP · For Review · For Tender · IFC · Superseded · As-Built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3776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6519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IFC Baseline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96519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Date included in the contractual IFC register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46304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149047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Originator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49047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CAPE · AGL/NAV/MET specialists · Aurecon · survey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189738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59" y="192481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Checker / Approver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92481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Designer checker · APMT reviewer · authority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33172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59" y="235915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Related Spec / BoQ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35915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Cross-ref to spec section &amp; BoQ item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276606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59" y="279349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Related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279349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BIM model file name &amp; revision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200400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59" y="322783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Authority Dependency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22783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BCAA · DoAT · NCHM · BOC · Druk Air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363474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59" y="366217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Interface Dependency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66217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Airfield–PTB · AGL–power · NAVAIDS–DoAT · MET–NCHM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17720" y="4069079"/>
            <a:ext cx="4160520" cy="3977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59" y="4096511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Contractual 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096511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Contract Doc · Ref Only · CDP · Provisional Sum · NSC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4503420"/>
            <a:ext cx="416052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09159" y="4530852"/>
            <a:ext cx="169164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6D594C"/>
                </a:solidFill>
                <a:latin typeface="Segoe UI"/>
              </a:rPr>
              <a:t>Remarks / Open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530852"/>
            <a:ext cx="2331720" cy="361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Pending RFI · BoQ gap · BCAA compatibility · clarification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Key Interfaces &amp; Hold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Cross-package and authority interfaces carry the most airfield IFC risk — log and track each one in the V8 register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55448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82296" cy="1325880"/>
          </a:xfrm>
          <a:prstGeom prst="rect">
            <a:avLst/>
          </a:prstGeom>
          <a:solidFill>
            <a:srgbClr val="A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64207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Airfield ↔ PTB &amp; Landside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Apron edge, PBB/AVDGS positions, stand services and apron–terminal levels must reconcile with the PTB package before either freezes.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55448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554480"/>
            <a:ext cx="82296" cy="1325880"/>
          </a:xfrm>
          <a:prstGeom prst="rect">
            <a:avLst/>
          </a:prstGeom>
          <a:solidFill>
            <a:srgbClr val="A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664207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Airspace / NAVAIDS ↔ DoAT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ILS / DME siting, critical &amp; sensitive areas and OLS must be cleared with DoAT / ANSP — this gates flight calibration.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6324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63240"/>
            <a:ext cx="82296" cy="13258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7296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BCAA Equipment Compatibility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MET &amp; ATC equipment specifications must be aligned with BCAA before the equipment / NSC scope is frozen.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306324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063240"/>
            <a:ext cx="82296" cy="1325880"/>
          </a:xfrm>
          <a:prstGeom prst="rect">
            <a:avLst/>
          </a:prstGeom>
          <a:solidFill>
            <a:srgbClr val="A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17296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Flight Calibration &amp; 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52044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IFC pavement, AGL, markings, NAVAIDS and MET feed BCAA aerodrome certification — sequence with the ~2–3 year clock.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7200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572000"/>
            <a:ext cx="82296" cy="13258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817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Drainage / River-Crossing ↔ ESIA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Culverts and river-training works must align with ESIA mitigation and hydrology — exposure to authority oversight.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572000"/>
            <a:ext cx="4114800" cy="13258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572000"/>
            <a:ext cx="82296" cy="132588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6817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94C"/>
                </a:solidFill>
                <a:latin typeface="Segoe UI"/>
              </a:rPr>
              <a:t>NSC / Specialist Equipment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029200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AGL, ILS/DME, ATC special and MET equipment need power, containment, siting and FAT/SAT/T&amp;C interfaces fixed with main works.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Drawing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A stable drawing number that never changes with the file name or issue date — GLU-P01-[Asset]-[Discipline]-[Type]-[Sequence]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417320"/>
            <a:ext cx="8275320" cy="50292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8275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GLU - P01 - [Asset] - [Discipline] - [Type] - [Sequence]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57400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33D2E"/>
                </a:solidFill>
                <a:latin typeface="Segoe UI"/>
              </a:rPr>
              <a:t>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359152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8658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GLU-P01-RWY-CV-PLN-0001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8658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Runway · Civil ·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75204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0263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GLU-P01-RWY-CV-PRF-0005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026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Runway · Civil · Profile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91256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1868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GLU-P01-TWY-CV-PLN-0050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1868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Taxiway · Civil ·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07308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347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GLU-P01-APR-CV-LAY-0100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3474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Apron · Civil · Stand layout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023360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5079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GLU-P01-APR-AGL-LAY-0120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50792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Apron · AGL · Layout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39412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6684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GLU-P01-DRN-DR-PLN-0200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46684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Drainage ·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855464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8289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GLU-P01-IBG-AR-PLN-0300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88289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Integrated Building · Arch · Plan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271516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9894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GLU-P01-IBG-ME-SCH-0320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298948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Integrated Building · Mech · Schedule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687568"/>
            <a:ext cx="4069080" cy="384048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7150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6D594C"/>
                </a:solidFill>
                <a:latin typeface="Segoe UI"/>
              </a:rPr>
              <a:t>GLU-P01-NAV-SY-DIA-0400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71500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5A493F"/>
                </a:solidFill>
                <a:latin typeface="Segoe UI"/>
              </a:rPr>
              <a:t>NAVAIDS · System diagram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20574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33D2E"/>
                </a:solidFill>
                <a:latin typeface="Segoe UI"/>
              </a:rPr>
              <a:t>Discipline Codes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359152"/>
            <a:ext cx="402336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368296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CV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2368296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Civil / Pavement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2601468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610612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DR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2610612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Drainage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2843784"/>
            <a:ext cx="402336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2852928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AGL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285292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Airfield Ground Lighting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3086100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0" y="3095244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NAV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3095244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NAVAIDS / ANS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3328416"/>
            <a:ext cx="402336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0" y="333756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MET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49240" y="3337560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Meteorological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3570732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0" y="3579876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3579876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Structure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3813048"/>
            <a:ext cx="402336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3822191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3822191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Architecture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055364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4064508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406450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Mechanical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4297680"/>
            <a:ext cx="402336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4306824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9240" y="4306824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Electrical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4539996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45491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FP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4549140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Fire Protection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4782312"/>
            <a:ext cx="402336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0" y="4791456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ICT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9240" y="4791456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ICT / ELV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63440" y="5024628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0" y="5033772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SEC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49240" y="5033772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Security / Fencing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5266944"/>
            <a:ext cx="402336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0" y="5276088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9240" y="527608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Landscape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5509260"/>
            <a:ext cx="402336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54880" y="5518404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GEN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9240" y="5518404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General / Common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5751576"/>
            <a:ext cx="402336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0" y="576072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A33D2E"/>
                </a:solidFill>
                <a:latin typeface="Segoe UI"/>
              </a:rPr>
              <a:t>BIM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49240" y="5760720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Digital Model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6199632"/>
            <a:ext cx="8275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8C7464"/>
                </a:solidFill>
                <a:latin typeface="Segoe UI"/>
              </a:rPr>
              <a:t>Asset / Zone codes:  RWY Runway · TWY Taxiway · APR Apron · ERW Earthworks · DRN Drainage · IBG Integrated Building · ARF ARFF · PER Perimeter · RDS Airside Roads · UTL Utilities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Specification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Use CSI MasterFormat as a reference, then add the airport-specific divisions — do not force airfield systems into building-only divisions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1480" y="1417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CSI MasterFormat (reference — incl. Integrated Building)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Procurement &amp;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31212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121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31212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General · doc control · BIM/CDE · QA/QC · HSE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70785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70785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0785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Existing conditions · clearance · utilities diversion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10358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1035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41035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Concrete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49931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49931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649931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Metals / structural / green steel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89504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8950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889504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Roofing · waterproofing · façade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29076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2907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12907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Doors · windows · glazing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368649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68649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368649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Finishes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608222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0822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608222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Signage · wayfinding · specialties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847795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847795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847795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Airport &amp; specialist equipment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087368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8736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08736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Fire protection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326940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3269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32694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Plumbing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566513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566513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4566513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HVAC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806086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80608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" y="480608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Electrical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045659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045659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5045659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Communications / ICT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285232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28523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5285232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Security / ELV / CCTV / access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524804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52480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5524804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Earthworks · ground improvement · slopes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764377"/>
            <a:ext cx="4069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764377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576437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Pavement · roads · external works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6003950"/>
            <a:ext cx="4069080" cy="22860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600395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3E5C76"/>
                </a:solidFill>
                <a:latin typeface="Segoe UI"/>
              </a:rPr>
              <a:t>33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" y="600395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493F"/>
                </a:solidFill>
                <a:latin typeface="Segoe UI"/>
              </a:rPr>
              <a:t>Utilities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A33D2E"/>
                </a:solidFill>
                <a:latin typeface="Segoe UI"/>
              </a:rPr>
              <a:t>Airport-specific — primary for this package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1691640"/>
            <a:ext cx="4023360" cy="484632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0" y="1719072"/>
            <a:ext cx="7772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40-AF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2120" y="1719072"/>
            <a:ext cx="3108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Airfield civil works, geometry &amp; pavements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3440" y="2226564"/>
            <a:ext cx="4023360" cy="484632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0" y="2253996"/>
            <a:ext cx="7772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41-AF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32120" y="2253996"/>
            <a:ext cx="3108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Airfield drainage, culverts, river-crossing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2761488"/>
            <a:ext cx="4023360" cy="484632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2788920"/>
            <a:ext cx="7772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42-AF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2120" y="2788920"/>
            <a:ext cx="3108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Airfield markings, signage &amp; visual aids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3296412"/>
            <a:ext cx="4023360" cy="484632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3323844"/>
            <a:ext cx="7772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43-AF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32120" y="3323844"/>
            <a:ext cx="3108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Airfield Ground Lighting &amp; ALCMS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63440" y="3831335"/>
            <a:ext cx="4023360" cy="484632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54880" y="3858768"/>
            <a:ext cx="7772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44-AF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32120" y="3858768"/>
            <a:ext cx="3108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NAVAIDS, ANS &amp; airspace infrastructure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63440" y="4366260"/>
            <a:ext cx="4023360" cy="484632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0" y="4393692"/>
            <a:ext cx="7772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45-AF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4393692"/>
            <a:ext cx="3108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Meteorological systems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4901183"/>
            <a:ext cx="4023360" cy="484632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0" y="4928616"/>
            <a:ext cx="7772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46-AF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32120" y="4928616"/>
            <a:ext cx="3108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ARFF facilities &amp; fire training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63440" y="5436108"/>
            <a:ext cx="4023360" cy="484632"/>
          </a:xfrm>
          <a:prstGeom prst="rect">
            <a:avLst/>
          </a:prstGeom>
          <a:solidFill>
            <a:srgbClr val="F7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0" y="5463540"/>
            <a:ext cx="7772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48-OR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32120" y="5463540"/>
            <a:ext cx="3108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Testing, commissioning, ORAT, certification &amp; handover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Minimum IFC Issue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Before any airfield drawing or specification is marked IFC, the team confirms each item — all are mandatory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508760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27631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Included in the IFC master 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508760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627631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00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1554480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Revision identified and frozen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12264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31136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0370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Design checker &amp; approver 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112264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231136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20370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2157984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APMT review 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15768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834639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072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761487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Critical RFIs / TQs closed or pending-listed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715768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2834639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80720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2761487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Related specification cross-referenced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319272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438144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107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364991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Related BoQ / pricing item cross-referenced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3319272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3438144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4107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3364991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BIM model revision aligned with drawing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922776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041648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01421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3968496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Interface with PTB &amp; landside checked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922776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0" y="4041648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401421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3968496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Authority dependency recorded (BCAA/DoAT/NCHM)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526280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4645152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6177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572000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NSC / specialist-equipment split identified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4526280"/>
            <a:ext cx="4114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54880" y="4645152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46177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59" y="4572000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Provisional sum / performance spec identified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129783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248655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22122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" y="5175503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Marked 'Contract Document' or 'For Info Only'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5129783"/>
            <a:ext cx="4114800" cy="512064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54880" y="5248655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522122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59" y="5175503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493F"/>
                </a:solidFill>
                <a:latin typeface="Segoe UI"/>
              </a:rPr>
              <a:t>Superseded documents removed from baseline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Roles &amp; Lead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Clear ownership inside the airfield package — APMT governs the register, interface matrix and the IFC issue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554480"/>
            <a:ext cx="8275320" cy="6400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91440" cy="640080"/>
          </a:xfrm>
          <a:prstGeom prst="rect">
            <a:avLst/>
          </a:prstGeom>
          <a:solidFill>
            <a:srgbClr val="A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19456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APMT / PMO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00200"/>
            <a:ext cx="42062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Overall airfield IFC governance · master register (V0) · interface &amp; authority registers (V8) · IFC issue gate · BoQ 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00200"/>
            <a:ext cx="137160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A33D2E"/>
                </a:solidFill>
                <a:latin typeface="Segoe UI"/>
              </a:rPr>
              <a:t>P01 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13432"/>
            <a:ext cx="8275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13432"/>
            <a:ext cx="91440" cy="64008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1"/>
            <a:ext cx="219456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59151"/>
            <a:ext cx="42062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Airfield lead design — pavements, drainage, earthworks, AGL, markings, integrated building, perimeter &amp; roads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59151"/>
            <a:ext cx="137160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3E5C76"/>
                </a:solidFill>
                <a:latin typeface="Segoe UI"/>
              </a:rPr>
              <a:t>P01 main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72384"/>
            <a:ext cx="8275320" cy="6400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072384"/>
            <a:ext cx="91440" cy="64008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18103"/>
            <a:ext cx="219456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AGL / Electrical Specialist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118103"/>
            <a:ext cx="42062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Airfield Ground Lighting, ALCMS and visual aids — design &amp; equipment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118103"/>
            <a:ext cx="137160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3E5C76"/>
                </a:solidFill>
                <a:latin typeface="Segoe UI"/>
              </a:rPr>
              <a:t>AGL · ALCMS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31335"/>
            <a:ext cx="8275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831335"/>
            <a:ext cx="91440" cy="64008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77055"/>
            <a:ext cx="219456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NAVAIDS / ANS Specialist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877055"/>
            <a:ext cx="42062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ILS, DME and ANS siting, critical areas; coordination with DoAT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877055"/>
            <a:ext cx="137160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6D594C"/>
                </a:solidFill>
                <a:latin typeface="Segoe UI"/>
              </a:rPr>
              <a:t>NAV / 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590288"/>
            <a:ext cx="8275320" cy="64008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590288"/>
            <a:ext cx="91440" cy="640080"/>
          </a:xfrm>
          <a:prstGeom prst="rect">
            <a:avLst/>
          </a:prstGeom>
          <a:solidFill>
            <a:srgbClr val="6D5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36007"/>
            <a:ext cx="219456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MET Specialist / NCHM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636007"/>
            <a:ext cx="42062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Meteorological systems siting &amp; equipment; NCHM coordination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636007"/>
            <a:ext cx="137160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6D594C"/>
                </a:solidFill>
                <a:latin typeface="Segoe UI"/>
              </a:rPr>
              <a:t>MET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349240"/>
            <a:ext cx="8275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5349240"/>
            <a:ext cx="91440" cy="64008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59"/>
            <a:ext cx="219456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QS /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394959"/>
            <a:ext cx="420624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493F"/>
                </a:solidFill>
                <a:latin typeface="Segoe UI"/>
              </a:rPr>
              <a:t>BoQ, schedules of rates, provisional sums and the NSC pricing 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394959"/>
            <a:ext cx="1371600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E68A00"/>
                </a:solidFill>
                <a:latin typeface="Segoe UI"/>
              </a:rPr>
              <a:t>V3 pricing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D594C"/>
                </a:solidFill>
                <a:latin typeface="Segoe U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C7464"/>
                </a:solidFill>
                <a:latin typeface="Segoe UI"/>
              </a:rPr>
              <a:t>Kick off within two weeks of this alignment — master register and coding first, then reconcile drawings, specs and BoQ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98448"/>
            <a:ext cx="822960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554480"/>
            <a:ext cx="8275320" cy="73152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2763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Confirm organising principle &amp;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385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Lock Airfield(P01)→Asset→Discipline→Type→Number→Rev; freeze drawing &amp; specification coding (Slides 5/10/11).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All / APMT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95728"/>
            <a:ext cx="82753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68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Stand up the Airfield IFC master register (V0)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797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Create the register with all 17 control fields; one register for P01, owned by APMT.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871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APMT / PMO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072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236976"/>
            <a:ext cx="8275320" cy="73152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36976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101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Reconcile drawings ↔ specs ↔ BoQ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210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Close the ~16 BoQ gaps; map every drawing and specification to a BoQ item.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2841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CAPE / QS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484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2-3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78224"/>
            <a:ext cx="82753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78224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15137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Resolve BCAA compatibility &amp; open V8 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4622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Align MET / ATC equipment specs with BCAA; start the BCAA / DoAT / NCHM dependency log.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169663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APMT / Specialists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897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2-3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919472"/>
            <a:ext cx="8275320" cy="731520"/>
          </a:xfrm>
          <a:prstGeom prst="rect">
            <a:avLst/>
          </a:prstGeom>
          <a:solidFill>
            <a:srgbClr val="F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91947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A33D2E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99262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D594C"/>
                </a:solidFill>
                <a:latin typeface="Segoe UI"/>
              </a:rPr>
              <a:t>Dry-run the IFC issue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3035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A493F"/>
                </a:solidFill>
                <a:latin typeface="Segoe UI"/>
              </a:rPr>
              <a:t>Test the 14-point gate on a sample airfield drawing set before the first contractual freeze.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01091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3E5C76"/>
                </a:solidFill>
                <a:latin typeface="Segoe UI"/>
              </a:rPr>
              <a:t>All leads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3309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Week 3-4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" y="6537960"/>
            <a:ext cx="6492240" cy="0"/>
          </a:xfrm>
          <a:prstGeom prst="bentConnector3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0" y="6565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C7464"/>
                </a:solidFill>
                <a:latin typeface="Segoe UI"/>
              </a:rPr>
              <a:t>STRICTLY CONFIDENTIAL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03920" y="6565392"/>
            <a:ext cx="0" cy="201167"/>
          </a:xfrm>
          <a:prstGeom prst="bentConnector3">
            <a:avLst/>
          </a:prstGeom>
          <a:ln w="25400">
            <a:solidFill>
              <a:srgbClr val="6D5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95360" y="65471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594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