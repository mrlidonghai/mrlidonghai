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5486400" cy="3566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D594C"/>
                </a:solidFill>
                <a:latin typeface="Segoe UI"/>
              </a:rPr>
              <a:t>TEAM ALIGNMENT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2779776"/>
            <a:ext cx="640080" cy="0"/>
          </a:xfrm>
          <a:prstGeom prst="bentConnector3">
            <a:avLst/>
          </a:prstGeom>
          <a:ln w="25400">
            <a:solidFill>
              <a:srgbClr val="6D59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57200" y="2953512"/>
            <a:ext cx="7242048" cy="0"/>
          </a:xfrm>
          <a:prstGeom prst="bentConnector3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3063240"/>
            <a:ext cx="8229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6D594C"/>
                </a:solidFill>
                <a:latin typeface="Segoe UI"/>
              </a:rPr>
              <a:t>IFC Preparation</a:t>
            </a:r>
          </a:p>
          <a:p>
            <a:pPr algn="l"/>
            <a:r>
              <a:rPr sz="3400" b="1" i="0">
                <a:solidFill>
                  <a:srgbClr val="A33D2E"/>
                </a:solidFill>
                <a:latin typeface="Segoe UI"/>
              </a:rPr>
              <a:t>Airfield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09160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8C7464"/>
                </a:solidFill>
                <a:latin typeface="Segoe UI"/>
              </a:rPr>
              <a:t>Gelephu Airport (GLU) · Package 1 — Structuring the Issued-For-Construction 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822960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A493F"/>
                </a:solidFill>
                <a:latin typeface="Segoe UI"/>
              </a:rPr>
              <a:t>APMT / PMO · Project Management Office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97296"/>
            <a:ext cx="822960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C7464"/>
                </a:solidFill>
                <a:latin typeface="Segoe UI"/>
              </a:rPr>
              <a:t>Airfield (P01) → Asset/Zone → Discipline/System → Document Type → Number → Revision/Status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65760" y="6537960"/>
            <a:ext cx="6492240" cy="0"/>
          </a:xfrm>
          <a:prstGeom prst="bentConnector3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657600" y="6565392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8C7464"/>
                </a:solidFill>
                <a:latin typeface="Segoe UI"/>
              </a:rPr>
              <a:t>STRICTLY CONFIDENTIAL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503920" y="6565392"/>
            <a:ext cx="0" cy="201167"/>
          </a:xfrm>
          <a:prstGeom prst="bentConnector3">
            <a:avLst/>
          </a:prstGeom>
          <a:ln w="25400">
            <a:solidFill>
              <a:srgbClr val="6D59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595360" y="654710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D594C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6D594C"/>
                </a:solidFill>
                <a:latin typeface="Segoe UI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8C7464"/>
                </a:solidFill>
                <a:latin typeface="Segoe UI"/>
              </a:rPr>
              <a:t>This alignment covers scope, the IFC organising principle, the work-area matrix, controls, coding and the issue gate — for the Airfield package only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298448"/>
            <a:ext cx="8229600" cy="0"/>
          </a:xfrm>
          <a:prstGeom prst="bentConnector3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55448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A33D2E"/>
                </a:solidFill>
                <a:latin typeface="Segoe U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0020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6D594C"/>
                </a:solidFill>
                <a:latin typeface="Segoe UI"/>
              </a:rPr>
              <a:t>Scope &amp; Principle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103120"/>
            <a:ext cx="33832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A493F"/>
                </a:solidFill>
                <a:latin typeface="Segoe UI"/>
              </a:rPr>
              <a:t>▸  Slide 3 — Scope of this IFC (Airfield)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A493F"/>
                </a:solidFill>
                <a:latin typeface="Segoe UI"/>
              </a:rPr>
              <a:t>▸  Slide 4 — Why align now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A493F"/>
                </a:solidFill>
                <a:latin typeface="Segoe UI"/>
              </a:rPr>
              <a:t>▸  Slide 5 — Organising principle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09160" y="155448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A33D2E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40680" y="160020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6D594C"/>
                </a:solidFill>
                <a:latin typeface="Segoe UI"/>
              </a:rPr>
              <a:t>Structure &amp; Controls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103120"/>
            <a:ext cx="33832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A493F"/>
                </a:solidFill>
                <a:latin typeface="Segoe UI"/>
              </a:rPr>
              <a:t>▸  Slide 6 — Airfield work-area matrix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A493F"/>
                </a:solidFill>
                <a:latin typeface="Segoe UI"/>
              </a:rPr>
              <a:t>▸  Slide 7 — Volume structure V0–V8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A493F"/>
                </a:solidFill>
                <a:latin typeface="Segoe UI"/>
              </a:rPr>
              <a:t>▸  Slide 8 — Master register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977639"/>
            <a:ext cx="731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A33D2E"/>
                </a:solidFill>
                <a:latin typeface="Segoe U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023359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6D594C"/>
                </a:solidFill>
                <a:latin typeface="Segoe UI"/>
              </a:rPr>
              <a:t>Coding &amp; Interfaces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526279"/>
            <a:ext cx="33832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A493F"/>
                </a:solidFill>
                <a:latin typeface="Segoe UI"/>
              </a:rPr>
              <a:t>▸  Slide 9 — Key interfaces &amp; hold points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A493F"/>
                </a:solidFill>
                <a:latin typeface="Segoe UI"/>
              </a:rPr>
              <a:t>▸  Slide 10 — Drawing coding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A493F"/>
                </a:solidFill>
                <a:latin typeface="Segoe UI"/>
              </a:rPr>
              <a:t>▸  Slide 11 — Specification coding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3977639"/>
            <a:ext cx="731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A33D2E"/>
                </a:solidFill>
                <a:latin typeface="Segoe U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4023359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6D594C"/>
                </a:solidFill>
                <a:latin typeface="Segoe UI"/>
              </a:rPr>
              <a:t>Gate, Roles &amp; Next Steps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4526279"/>
            <a:ext cx="33832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A493F"/>
                </a:solidFill>
                <a:latin typeface="Segoe UI"/>
              </a:rPr>
              <a:t>▸  Slide 12 — IFC issue checklist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A493F"/>
                </a:solidFill>
                <a:latin typeface="Segoe UI"/>
              </a:rPr>
              <a:t>▸  Slide 13 — Roles &amp; lead ownership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A493F"/>
                </a:solidFill>
                <a:latin typeface="Segoe UI"/>
              </a:rPr>
              <a:t>▸  Slide 14 — Next steps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65760" y="6537960"/>
            <a:ext cx="6492240" cy="0"/>
          </a:xfrm>
          <a:prstGeom prst="bentConnector3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657600" y="6565392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8C7464"/>
                </a:solidFill>
                <a:latin typeface="Segoe UI"/>
              </a:rPr>
              <a:t>STRICTLY CONFIDENTIAL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503920" y="6565392"/>
            <a:ext cx="0" cy="201167"/>
          </a:xfrm>
          <a:prstGeom prst="bentConnector3">
            <a:avLst/>
          </a:prstGeom>
          <a:ln w="25400">
            <a:solidFill>
              <a:srgbClr val="6D59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595360" y="654710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D594C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6D594C"/>
                </a:solidFill>
                <a:latin typeface="Segoe UI"/>
              </a:rPr>
              <a:t>Scope of This IFC — Airfield Package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8C7464"/>
                </a:solidFill>
                <a:latin typeface="Segoe UI"/>
              </a:rPr>
              <a:t>Package 1 (purple zone). The PTB &amp; Landside package is a separate contract and is NOT part of this IFC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298448"/>
            <a:ext cx="8229600" cy="0"/>
          </a:xfrm>
          <a:prstGeom prst="bentConnector3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11480" y="1444752"/>
            <a:ext cx="4160520" cy="347472"/>
          </a:xfrm>
          <a:prstGeom prst="rect">
            <a:avLst/>
          </a:prstGeom>
          <a:solidFill>
            <a:srgbClr val="A3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40233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In Scope — Airfield Works (P01)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792224"/>
            <a:ext cx="4160520" cy="269748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901952"/>
            <a:ext cx="388620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A493F"/>
                </a:solidFill>
                <a:latin typeface="Segoe UI"/>
              </a:rPr>
              <a:t>•  Aircraft pavement — runway, taxiways, apron stands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A493F"/>
                </a:solidFill>
                <a:latin typeface="Segoe UI"/>
              </a:rPr>
              <a:t>•  Airfield drainage, culverts &amp; river-crossing works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A493F"/>
                </a:solidFill>
                <a:latin typeface="Segoe UI"/>
              </a:rPr>
              <a:t>•  Earthworks &amp; ground improvement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A493F"/>
                </a:solidFill>
                <a:latin typeface="Segoe UI"/>
              </a:rPr>
              <a:t>•  Airfield Ground Lighting (AGL) &amp; ALCMS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A493F"/>
                </a:solidFill>
                <a:latin typeface="Segoe UI"/>
              </a:rPr>
              <a:t>•  Markings, signage &amp; visual aids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A493F"/>
                </a:solidFill>
                <a:latin typeface="Segoe UI"/>
              </a:rPr>
              <a:t>•  NAVAIDS / ANS (ILS, DME)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A493F"/>
                </a:solidFill>
                <a:latin typeface="Segoe UI"/>
              </a:rPr>
              <a:t>•  Meteorological systems (MET)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A493F"/>
                </a:solidFill>
                <a:latin typeface="Segoe UI"/>
              </a:rPr>
              <a:t>•  Integrated Building — ATCT, ARFF &amp; MET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A493F"/>
                </a:solidFill>
                <a:latin typeface="Segoe UI"/>
              </a:rPr>
              <a:t>•  Perimeter fencing, security &amp; access gates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A493F"/>
                </a:solidFill>
                <a:latin typeface="Segoe UI"/>
              </a:rPr>
              <a:t>•  Airside roads, car park &amp; utilities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17720" y="1444752"/>
            <a:ext cx="4114800" cy="347472"/>
          </a:xfrm>
          <a:prstGeom prst="rect">
            <a:avLst/>
          </a:prstGeom>
          <a:solidFill>
            <a:srgbClr val="E6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1444752"/>
            <a:ext cx="3977639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NSC / Specialist Equipment (subcontractors)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17720" y="1792224"/>
            <a:ext cx="4114800" cy="123444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73168" y="1901952"/>
            <a:ext cx="38404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A493F"/>
                </a:solidFill>
                <a:latin typeface="Segoe UI"/>
              </a:rPr>
              <a:t>•  AGL equipment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A493F"/>
                </a:solidFill>
                <a:latin typeface="Segoe UI"/>
              </a:rPr>
              <a:t>•  NAVAIDS — ILS system equipment, DME, etc.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A493F"/>
                </a:solidFill>
                <a:latin typeface="Segoe UI"/>
              </a:rPr>
              <a:t>•  ATCT special equipment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A493F"/>
                </a:solidFill>
                <a:latin typeface="Segoe UI"/>
              </a:rPr>
              <a:t>•  Meteorological equipment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17720" y="3154680"/>
            <a:ext cx="4114800" cy="1335024"/>
          </a:xfrm>
          <a:prstGeom prst="rect">
            <a:avLst/>
          </a:prstGeom>
          <a:solidFill>
            <a:srgbClr val="F7E1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73168" y="325526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A33D2E"/>
                </a:solidFill>
                <a:latin typeface="Segoe UI"/>
              </a:rPr>
              <a:t>Interface to keep in 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3547872"/>
            <a:ext cx="3840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493F"/>
                </a:solidFill>
                <a:latin typeface="Segoe UI"/>
              </a:rPr>
              <a:t>Apron edge, PBB / AVDGS positions and stand services tie to the PTB &amp; Landside package — coordinate the boundary even though those systems sit outside this IFC.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617720"/>
            <a:ext cx="8321040" cy="365760"/>
          </a:xfrm>
          <a:prstGeom prst="rect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617720"/>
            <a:ext cx="818387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Boundary — PTB &amp; Landside Package (separate contract, not in this IFC)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4983480"/>
            <a:ext cx="8321040" cy="841248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74920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493F"/>
                </a:solidFill>
                <a:latin typeface="Segoe UI"/>
              </a:rPr>
              <a:t>•  PTB &amp; PTB Annex · Canopy &amp; Arrival Plaza · Ceremonial Lounge · landside roads, car park, landscape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493F"/>
                </a:solidFill>
                <a:latin typeface="Segoe UI"/>
              </a:rPr>
              <a:t>•  Terminal systems — BHS, HBS, PBB, AVDGS, PSS, FIDS, etc.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5943600"/>
            <a:ext cx="8321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C7464"/>
                </a:solidFill>
                <a:latin typeface="Segoe UI"/>
              </a:rPr>
              <a:t>Remark: the list is not exhaustive — refer to the design for full details.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65760" y="6537960"/>
            <a:ext cx="6492240" cy="0"/>
          </a:xfrm>
          <a:prstGeom prst="bentConnector3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657600" y="6565392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8C7464"/>
                </a:solidFill>
                <a:latin typeface="Segoe UI"/>
              </a:rPr>
              <a:t>STRICTLY CONFIDENTIAL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503920" y="6565392"/>
            <a:ext cx="0" cy="201167"/>
          </a:xfrm>
          <a:prstGeom prst="bentConnector3">
            <a:avLst/>
          </a:prstGeom>
          <a:ln w="25400">
            <a:solidFill>
              <a:srgbClr val="6D59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595360" y="654710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D594C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6D594C"/>
                </a:solidFill>
                <a:latin typeface="Segoe UI"/>
              </a:rPr>
              <a:t>Why Align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8C7464"/>
                </a:solidFill>
                <a:latin typeface="Segoe UI"/>
              </a:rPr>
              <a:t>The airfield is in tender / bid evaluation — a clean, controlled IFC set directly drives bid pricing, clarifications and claims exposure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298448"/>
            <a:ext cx="8229600" cy="0"/>
          </a:xfrm>
          <a:prstGeom prst="bentConnector3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65760" y="1517904"/>
            <a:ext cx="704088" cy="704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A33D2E"/>
                </a:solidFill>
                <a:latin typeface="Sego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517904"/>
            <a:ext cx="7589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D594C"/>
                </a:solidFill>
                <a:latin typeface="Segoe UI"/>
              </a:rPr>
              <a:t>Airfield is in tender / bid evaluation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828800"/>
            <a:ext cx="7589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493F"/>
                </a:solidFill>
                <a:latin typeface="Segoe UI"/>
              </a:rPr>
              <a:t>IFC quality feeds bid pricing and risk premium directly. A controlled set reduces clarifications and EOT / claims exposure during evaluation, award and construction supervision.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423160"/>
            <a:ext cx="704088" cy="704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A33D2E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423160"/>
            <a:ext cx="7589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D594C"/>
                </a:solidFill>
                <a:latin typeface="Segoe UI"/>
              </a:rPr>
              <a:t>BoQ gaps already flagged (~16 items)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734056"/>
            <a:ext cx="7589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493F"/>
                </a:solidFill>
                <a:latin typeface="Segoe UI"/>
              </a:rPr>
              <a:t>ARFF vehicles, GSE, MET attribution, SFL units, CCTV / ICT active equipment, zero-quantity items, CAT I, etc. The IFC register must reconcile drawings, specifications and BoQ.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328415"/>
            <a:ext cx="704088" cy="704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A33D2E"/>
                </a:solidFill>
                <a:latin typeface="Segoe U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328415"/>
            <a:ext cx="7589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D594C"/>
                </a:solidFill>
                <a:latin typeface="Segoe UI"/>
              </a:rPr>
              <a:t>BCAA equipment compatibility unresolved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639311"/>
            <a:ext cx="7589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493F"/>
                </a:solidFill>
                <a:latin typeface="Segoe UI"/>
              </a:rPr>
              <a:t>MET / ATC equipment specifications are not yet aligned with BCAA. Resolve, or clearly flag as pending clarification, before freezing the airfield IFC.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233672"/>
            <a:ext cx="704088" cy="704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A33D2E"/>
                </a:solidFill>
                <a:latin typeface="Segoe U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233672"/>
            <a:ext cx="7589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D594C"/>
                </a:solidFill>
                <a:latin typeface="Segoe UI"/>
              </a:rPr>
              <a:t>Aerodrome certification clock is running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544568"/>
            <a:ext cx="7589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493F"/>
                </a:solidFill>
                <a:latin typeface="Segoe UI"/>
              </a:rPr>
              <a:t>BCAA certification takes ~2–3 years from design submission to operational approval. The airfield IFC feeds flight calibration and aerodrome certification — sequence accordingly.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5138928"/>
            <a:ext cx="704088" cy="704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A33D2E"/>
                </a:solidFill>
                <a:latin typeface="Segoe U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5138928"/>
            <a:ext cx="7589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D594C"/>
                </a:solidFill>
                <a:latin typeface="Segoe UI"/>
              </a:rPr>
              <a:t>One controlled register before first freeze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449824"/>
            <a:ext cx="7589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493F"/>
                </a:solidFill>
                <a:latin typeface="Segoe UI"/>
              </a:rPr>
              <a:t>Avoid an uncontrolled airfield drawing list mixing pavement, AGL, NAVAIDS, MET, the integrated building and NSC equipment into one uncontrolled set.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044184"/>
            <a:ext cx="704088" cy="704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A33D2E"/>
                </a:solidFill>
                <a:latin typeface="Segoe U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044184"/>
            <a:ext cx="7589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D594C"/>
                </a:solidFill>
                <a:latin typeface="Segoe UI"/>
              </a:rPr>
              <a:t>Build on the existing PMO data room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6355080"/>
            <a:ext cx="7589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493F"/>
                </a:solidFill>
                <a:latin typeface="Segoe UI"/>
              </a:rPr>
              <a:t>Re-use WIP / Issued / Submission / Milestone Review folders and naming; add a stable IFC drawing number that does not change with the file name or issue date.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65760" y="6537960"/>
            <a:ext cx="6492240" cy="0"/>
          </a:xfrm>
          <a:prstGeom prst="bentConnector3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657600" y="6565392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8C7464"/>
                </a:solidFill>
                <a:latin typeface="Segoe UI"/>
              </a:rPr>
              <a:t>STRICTLY CONFIDENTIAL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03920" y="6565392"/>
            <a:ext cx="0" cy="201167"/>
          </a:xfrm>
          <a:prstGeom prst="bentConnector3">
            <a:avLst/>
          </a:prstGeom>
          <a:ln w="25400">
            <a:solidFill>
              <a:srgbClr val="6D59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595360" y="654710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D594C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6D594C"/>
                </a:solidFill>
                <a:latin typeface="Segoe UI"/>
              </a:rPr>
              <a:t>Organising Principle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8C7464"/>
                </a:solidFill>
                <a:latin typeface="Segoe UI"/>
              </a:rPr>
              <a:t>The package is fixed (Airfield / P01). Organise everything below it by asset/zone, then discipline/system, then document type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298448"/>
            <a:ext cx="8229600" cy="0"/>
          </a:xfrm>
          <a:prstGeom prst="bentConnector3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11480" y="1828800"/>
            <a:ext cx="1298448" cy="960120"/>
          </a:xfrm>
          <a:prstGeom prst="rect">
            <a:avLst/>
          </a:prstGeom>
          <a:solidFill>
            <a:srgbClr val="6D5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Airfield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852927"/>
            <a:ext cx="129844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A493F"/>
                </a:solidFill>
                <a:latin typeface="Segoe UI"/>
              </a:rPr>
              <a:t>P01 — fixed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39" y="2144268"/>
            <a:ext cx="14630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8C7464"/>
                </a:solidFill>
                <a:latin typeface="Segoe UI"/>
              </a:rPr>
              <a:t>›</a:t>
            </a:r>
          </a:p>
        </p:txBody>
      </p:sp>
      <p:sp>
        <p:nvSpPr>
          <p:cNvPr id="8" name="Rectangle 7"/>
          <p:cNvSpPr/>
          <p:nvPr/>
        </p:nvSpPr>
        <p:spPr>
          <a:xfrm>
            <a:off x="1801368" y="1828800"/>
            <a:ext cx="1298448" cy="960120"/>
          </a:xfrm>
          <a:prstGeom prst="rect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Asset / Zone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01368" y="2852927"/>
            <a:ext cx="129844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A493F"/>
                </a:solidFill>
                <a:latin typeface="Segoe UI"/>
              </a:rPr>
              <a:t>RWY · TWY · APR · DRN · IBG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81527" y="2144268"/>
            <a:ext cx="14630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8C7464"/>
                </a:solidFill>
                <a:latin typeface="Segoe UI"/>
              </a:rPr>
              <a:t>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91256" y="1828800"/>
            <a:ext cx="1298448" cy="960120"/>
          </a:xfrm>
          <a:prstGeom prst="rect">
            <a:avLst/>
          </a:prstGeom>
          <a:solidFill>
            <a:srgbClr val="6D5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Discipline /</a:t>
            </a:r>
          </a:p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2852927"/>
            <a:ext cx="129844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A493F"/>
                </a:solidFill>
                <a:latin typeface="Segoe UI"/>
              </a:rPr>
              <a:t>CV · DR · AGL · NAV · MET · 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71416" y="2144268"/>
            <a:ext cx="14630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8C7464"/>
                </a:solidFill>
                <a:latin typeface="Segoe UI"/>
              </a:rP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81144" y="1828800"/>
            <a:ext cx="1298448" cy="960120"/>
          </a:xfrm>
          <a:prstGeom prst="rect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Document</a:t>
            </a:r>
          </a:p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Type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2852927"/>
            <a:ext cx="129844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A493F"/>
                </a:solidFill>
                <a:latin typeface="Segoe UI"/>
              </a:rPr>
              <a:t>Drawing · Spec · Schedule ·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61304" y="2144268"/>
            <a:ext cx="14630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8C7464"/>
                </a:solidFill>
                <a:latin typeface="Segoe UI"/>
              </a:rPr>
              <a:t>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71032" y="1828800"/>
            <a:ext cx="1298448" cy="960120"/>
          </a:xfrm>
          <a:prstGeom prst="rect">
            <a:avLst/>
          </a:prstGeom>
          <a:solidFill>
            <a:srgbClr val="6D5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Number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71032" y="2852927"/>
            <a:ext cx="129844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A493F"/>
                </a:solidFill>
                <a:latin typeface="Segoe UI"/>
              </a:rPr>
              <a:t>Stable, date-independent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51192" y="2144268"/>
            <a:ext cx="14630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8C7464"/>
                </a:solidFill>
                <a:latin typeface="Segoe UI"/>
              </a:rPr>
              <a:t>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60919" y="1828800"/>
            <a:ext cx="1298448" cy="960120"/>
          </a:xfrm>
          <a:prstGeom prst="rect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Revision /</a:t>
            </a:r>
          </a:p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Status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19" y="2852927"/>
            <a:ext cx="129844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A493F"/>
                </a:solidFill>
                <a:latin typeface="Segoe UI"/>
              </a:rPr>
              <a:t>IFC · Superseded · As-Built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794760"/>
            <a:ext cx="8275320" cy="77724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904487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C7464"/>
                </a:solidFill>
                <a:latin typeface="Segoe UI"/>
              </a:rPr>
              <a:t>Worked example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16052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6D594C"/>
                </a:solidFill>
                <a:latin typeface="Segoe UI"/>
              </a:rPr>
              <a:t>GLU-P01-RWY-CV-PLN-0001  =  Airfield · Runway · Civil · Plan · drawing 0001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4800600"/>
            <a:ext cx="82753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493F"/>
                </a:solidFill>
                <a:latin typeface="Segoe UI"/>
              </a:rPr>
              <a:t>Why it works: every airfield document resolves to a zone, discipline, type and revision — so pavement, AGL, NAVAIDS, MET, the integrated building and NSC equipment never collapse into one uncontrolled list. This keeps FIDIC administration, tender evaluation, award and claims management navigable.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65760" y="6537960"/>
            <a:ext cx="6492240" cy="0"/>
          </a:xfrm>
          <a:prstGeom prst="bentConnector3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657600" y="6565392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8C7464"/>
                </a:solidFill>
                <a:latin typeface="Segoe UI"/>
              </a:rPr>
              <a:t>STRICTLY CONFIDENTIAL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03920" y="6565392"/>
            <a:ext cx="0" cy="201167"/>
          </a:xfrm>
          <a:prstGeom prst="bentConnector3">
            <a:avLst/>
          </a:prstGeom>
          <a:ln w="25400">
            <a:solidFill>
              <a:srgbClr val="6D59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595360" y="654710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D594C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6D594C"/>
                </a:solidFill>
                <a:latin typeface="Segoe UI"/>
              </a:rPr>
              <a:t>Airfield Work-Area Matrix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8C7464"/>
                </a:solidFill>
                <a:latin typeface="Segoe UI"/>
              </a:rPr>
              <a:t>Ten work areas inside Package 1 — each with its key works, primary disciplines, interfaces / hold points and owner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298448"/>
            <a:ext cx="8229600" cy="0"/>
          </a:xfrm>
          <a:prstGeom prst="bentConnector3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65760" y="1481328"/>
            <a:ext cx="2148840" cy="274320"/>
          </a:xfrm>
          <a:prstGeom prst="rect">
            <a:avLst/>
          </a:prstGeom>
          <a:solidFill>
            <a:srgbClr val="6D5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tIns="0" bIns="0"/>
          <a:lstStyle/>
          <a:p>
            <a:pPr algn="l"/>
            <a:r>
              <a:rPr sz="850" b="1" i="0">
                <a:solidFill>
                  <a:srgbClr val="FFFFFF"/>
                </a:solidFill>
                <a:latin typeface="Segoe UI"/>
              </a:rPr>
              <a:t>Work Area / Zone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2514600" y="1481328"/>
            <a:ext cx="3246120" cy="274320"/>
          </a:xfrm>
          <a:prstGeom prst="rect">
            <a:avLst/>
          </a:prstGeom>
          <a:solidFill>
            <a:srgbClr val="6D5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tIns="0" bIns="0"/>
          <a:lstStyle/>
          <a:p>
            <a:pPr algn="l"/>
            <a:r>
              <a:rPr sz="850" b="1" i="0">
                <a:solidFill>
                  <a:srgbClr val="FFFFFF"/>
                </a:solidFill>
                <a:latin typeface="Segoe UI"/>
              </a:rPr>
              <a:t>Key Works &amp; Disciplines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720" y="1481328"/>
            <a:ext cx="1874519" cy="274320"/>
          </a:xfrm>
          <a:prstGeom prst="rect">
            <a:avLst/>
          </a:prstGeom>
          <a:solidFill>
            <a:srgbClr val="6D5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tIns="0" bIns="0"/>
          <a:lstStyle/>
          <a:p>
            <a:pPr algn="l"/>
            <a:r>
              <a:rPr sz="850" b="1" i="0">
                <a:solidFill>
                  <a:srgbClr val="FFFFFF"/>
                </a:solidFill>
                <a:latin typeface="Segoe UI"/>
              </a:rPr>
              <a:t>Key Interface / Hold Points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481328"/>
            <a:ext cx="1143000" cy="274320"/>
          </a:xfrm>
          <a:prstGeom prst="rect">
            <a:avLst/>
          </a:prstGeom>
          <a:solidFill>
            <a:srgbClr val="6D5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tIns="0" bIns="0"/>
          <a:lstStyle/>
          <a:p>
            <a:pPr algn="l"/>
            <a:r>
              <a:rPr sz="850" b="1" i="0">
                <a:solidFill>
                  <a:srgbClr val="FFFFFF"/>
                </a:solidFill>
                <a:latin typeface="Segoe UI"/>
              </a:rPr>
              <a:t>Owner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55648"/>
            <a:ext cx="2148840" cy="45720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800" b="1" i="0">
                <a:solidFill>
                  <a:srgbClr val="A33D2E"/>
                </a:solidFill>
                <a:latin typeface="Segoe UI"/>
              </a:rPr>
              <a:t>Runway, Taxiways &amp; Apron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14600" y="1755648"/>
            <a:ext cx="3246120" cy="45720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750" b="0" i="0">
                <a:solidFill>
                  <a:srgbClr val="5A493F"/>
                </a:solidFill>
                <a:latin typeface="Segoe UI"/>
              </a:rPr>
              <a:t>Aircraft pavement, geometry, markings, FOD, stands — CV / pavement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60720" y="1755648"/>
            <a:ext cx="1874519" cy="45720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750" b="0" i="0">
                <a:solidFill>
                  <a:srgbClr val="5A493F"/>
                </a:solidFill>
                <a:latin typeface="Segoe UI"/>
              </a:rPr>
              <a:t>Apron–PBB/AVDGS (PTB pkg) · GSE · fuel · OLS / airspace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35240" y="1755648"/>
            <a:ext cx="1143000" cy="45720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750" b="1" i="0">
                <a:solidFill>
                  <a:srgbClr val="3E5C76"/>
                </a:solidFill>
                <a:latin typeface="Segoe UI"/>
              </a:rPr>
              <a:t>CAPE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212848"/>
            <a:ext cx="21488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800" b="1" i="0">
                <a:solidFill>
                  <a:srgbClr val="A33D2E"/>
                </a:solidFill>
                <a:latin typeface="Segoe UI"/>
              </a:rPr>
              <a:t>Earthworks &amp; Ground Improvement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14600" y="2212848"/>
            <a:ext cx="32461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750" b="0" i="0">
                <a:solidFill>
                  <a:srgbClr val="5A493F"/>
                </a:solidFill>
                <a:latin typeface="Segoe UI"/>
              </a:rPr>
              <a:t>Cut / fill, slopes, surcharge, ground treatment — geotech / CV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0720" y="2212848"/>
            <a:ext cx="187451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750" b="0" i="0">
                <a:solidFill>
                  <a:srgbClr val="5A493F"/>
                </a:solidFill>
                <a:latin typeface="Segoe UI"/>
              </a:rPr>
              <a:t>SI &amp; ESIA · river training · schedule float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35240" y="2212848"/>
            <a:ext cx="11430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750" b="1" i="0">
                <a:solidFill>
                  <a:srgbClr val="3E5C76"/>
                </a:solidFill>
                <a:latin typeface="Segoe UI"/>
              </a:rPr>
              <a:t>CAPE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670048"/>
            <a:ext cx="2148840" cy="45720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800" b="1" i="0">
                <a:solidFill>
                  <a:srgbClr val="A33D2E"/>
                </a:solidFill>
                <a:latin typeface="Segoe UI"/>
              </a:rPr>
              <a:t>Airfield Drainage &amp; Culverts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14600" y="2670048"/>
            <a:ext cx="3246120" cy="45720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750" b="0" i="0">
                <a:solidFill>
                  <a:srgbClr val="5A493F"/>
                </a:solidFill>
                <a:latin typeface="Segoe UI"/>
              </a:rPr>
              <a:t>Drainage, culverts, river-crossing works — DR / CV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60720" y="2670048"/>
            <a:ext cx="1874519" cy="45720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750" b="0" i="0">
                <a:solidFill>
                  <a:srgbClr val="5A493F"/>
                </a:solidFill>
                <a:latin typeface="Segoe UI"/>
              </a:rPr>
              <a:t>ESIA &amp; hydrology · landside outfall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35240" y="2670048"/>
            <a:ext cx="1143000" cy="45720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750" b="1" i="0">
                <a:solidFill>
                  <a:srgbClr val="3E5C76"/>
                </a:solidFill>
                <a:latin typeface="Segoe UI"/>
              </a:rPr>
              <a:t>CAPE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127248"/>
            <a:ext cx="21488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800" b="1" i="0">
                <a:solidFill>
                  <a:srgbClr val="A33D2E"/>
                </a:solidFill>
                <a:latin typeface="Segoe UI"/>
              </a:rPr>
              <a:t>AGL, ALCMS &amp; Visual Aids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14600" y="3127248"/>
            <a:ext cx="32461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750" b="0" i="0">
                <a:solidFill>
                  <a:srgbClr val="5A493F"/>
                </a:solidFill>
                <a:latin typeface="Segoe UI"/>
              </a:rPr>
              <a:t>Ground lighting, ALCMS, markings, signage — AGL / 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60720" y="3127248"/>
            <a:ext cx="187451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750" b="0" i="0">
                <a:solidFill>
                  <a:srgbClr val="5A493F"/>
                </a:solidFill>
                <a:latin typeface="Segoe UI"/>
              </a:rPr>
              <a:t>Power supply · NAVAIDS · BCAA standards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35240" y="3127248"/>
            <a:ext cx="11430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750" b="1" i="0">
                <a:solidFill>
                  <a:srgbClr val="3E5C76"/>
                </a:solidFill>
                <a:latin typeface="Segoe UI"/>
              </a:rPr>
              <a:t>CAPE / AGL spec.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584448"/>
            <a:ext cx="2148840" cy="45720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800" b="1" i="0">
                <a:solidFill>
                  <a:srgbClr val="A33D2E"/>
                </a:solidFill>
                <a:latin typeface="Segoe UI"/>
              </a:rPr>
              <a:t>NAVAIDS / ANS (ILS, DME)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14600" y="3584448"/>
            <a:ext cx="3246120" cy="45720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750" b="0" i="0">
                <a:solidFill>
                  <a:srgbClr val="5A493F"/>
                </a:solidFill>
                <a:latin typeface="Segoe UI"/>
              </a:rPr>
              <a:t>Equipment siting, critical / sensitive areas — NAV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60720" y="3584448"/>
            <a:ext cx="1874519" cy="45720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750" b="0" i="0">
                <a:solidFill>
                  <a:srgbClr val="5A493F"/>
                </a:solidFill>
                <a:latin typeface="Segoe UI"/>
              </a:rPr>
              <a:t>Airspace · DoAT · BCAA · flight calibration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35240" y="3584448"/>
            <a:ext cx="1143000" cy="45720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750" b="1" i="0">
                <a:solidFill>
                  <a:srgbClr val="3E5C76"/>
                </a:solidFill>
                <a:latin typeface="Segoe UI"/>
              </a:rPr>
              <a:t>NAVAIDS spec.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041648"/>
            <a:ext cx="21488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800" b="1" i="0">
                <a:solidFill>
                  <a:srgbClr val="A33D2E"/>
                </a:solidFill>
                <a:latin typeface="Segoe UI"/>
              </a:rPr>
              <a:t>Meteorological Systems (MET)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14600" y="4041648"/>
            <a:ext cx="32461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750" b="0" i="0">
                <a:solidFill>
                  <a:srgbClr val="5A493F"/>
                </a:solidFill>
                <a:latin typeface="Segoe UI"/>
              </a:rPr>
              <a:t>AWOS, sensor siting, displays — MET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60720" y="4041648"/>
            <a:ext cx="187451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750" b="0" i="0">
                <a:solidFill>
                  <a:srgbClr val="5A493F"/>
                </a:solidFill>
                <a:latin typeface="Segoe UI"/>
              </a:rPr>
              <a:t>NCHM · BCAA · ATCT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35240" y="4041648"/>
            <a:ext cx="11430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750" b="1" i="0">
                <a:solidFill>
                  <a:srgbClr val="3E5C76"/>
                </a:solidFill>
                <a:latin typeface="Segoe UI"/>
              </a:rPr>
              <a:t>MET spec. / NCHM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498848"/>
            <a:ext cx="2148840" cy="45720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800" b="1" i="0">
                <a:solidFill>
                  <a:srgbClr val="A33D2E"/>
                </a:solidFill>
                <a:latin typeface="Segoe UI"/>
              </a:rPr>
              <a:t>Integrated Building (ATCT/ARFF/MET)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14600" y="4498848"/>
            <a:ext cx="3246120" cy="45720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750" b="0" i="0">
                <a:solidFill>
                  <a:srgbClr val="5A493F"/>
                </a:solidFill>
                <a:latin typeface="Segoe UI"/>
              </a:rPr>
              <a:t>Tower, ops rooms, ARFF station — AR/ST/ME/EL/ICT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60720" y="4498848"/>
            <a:ext cx="1874519" cy="45720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750" b="0" i="0">
                <a:solidFill>
                  <a:srgbClr val="5A493F"/>
                </a:solidFill>
                <a:latin typeface="Segoe UI"/>
              </a:rPr>
              <a:t>ANS &amp; MET equipment · power · water supply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635240" y="4498848"/>
            <a:ext cx="1143000" cy="45720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750" b="1" i="0">
                <a:solidFill>
                  <a:srgbClr val="3E5C76"/>
                </a:solidFill>
                <a:latin typeface="Segoe UI"/>
              </a:rPr>
              <a:t>CAPE / Aurecon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956048"/>
            <a:ext cx="21488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800" b="1" i="0">
                <a:solidFill>
                  <a:srgbClr val="A33D2E"/>
                </a:solidFill>
                <a:latin typeface="Segoe UI"/>
              </a:rPr>
              <a:t>Perimeter, Security &amp; Access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14600" y="4956048"/>
            <a:ext cx="32461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750" b="0" i="0">
                <a:solidFill>
                  <a:srgbClr val="5A493F"/>
                </a:solidFill>
                <a:latin typeface="Segoe UI"/>
              </a:rPr>
              <a:t>Fencing, gates, PIDS, patrol roads — SEC / CV / EL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760720" y="4956048"/>
            <a:ext cx="187451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750" b="0" i="0">
                <a:solidFill>
                  <a:srgbClr val="5A493F"/>
                </a:solidFill>
                <a:latin typeface="Segoe UI"/>
              </a:rPr>
              <a:t>Security ops · landside boundary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35240" y="4956048"/>
            <a:ext cx="11430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750" b="1" i="0">
                <a:solidFill>
                  <a:srgbClr val="3E5C76"/>
                </a:solidFill>
                <a:latin typeface="Segoe UI"/>
              </a:rPr>
              <a:t>CAPE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413248"/>
            <a:ext cx="2148840" cy="45720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800" b="1" i="0">
                <a:solidFill>
                  <a:srgbClr val="A33D2E"/>
                </a:solidFill>
                <a:latin typeface="Segoe UI"/>
              </a:rPr>
              <a:t>Airside Roads, Car Park &amp; Utilities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5413248"/>
            <a:ext cx="3246120" cy="45720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750" b="0" i="0">
                <a:solidFill>
                  <a:srgbClr val="5A493F"/>
                </a:solidFill>
                <a:latin typeface="Segoe UI"/>
              </a:rPr>
              <a:t>Service roads, car park, airside utilities — CV/ME/EL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60720" y="5413248"/>
            <a:ext cx="1874519" cy="45720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750" b="0" i="0">
                <a:solidFill>
                  <a:srgbClr val="5A493F"/>
                </a:solidFill>
                <a:latin typeface="Segoe UI"/>
              </a:rPr>
              <a:t>Landside utilities tie-in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635240" y="5413248"/>
            <a:ext cx="1143000" cy="45720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750" b="1" i="0">
                <a:solidFill>
                  <a:srgbClr val="3E5C76"/>
                </a:solidFill>
                <a:latin typeface="Segoe UI"/>
              </a:rPr>
              <a:t>CAPE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870448"/>
            <a:ext cx="21488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800" b="1" i="0">
                <a:solidFill>
                  <a:srgbClr val="A33D2E"/>
                </a:solidFill>
                <a:latin typeface="Segoe UI"/>
              </a:rPr>
              <a:t>NSC / Specialist Equipment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514600" y="5870448"/>
            <a:ext cx="32461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750" b="0" i="0">
                <a:solidFill>
                  <a:srgbClr val="5A493F"/>
                </a:solidFill>
                <a:latin typeface="Segoe UI"/>
              </a:rPr>
              <a:t>AGL eqpt · ILS / DME · ATC special · MET eqpt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760720" y="5870448"/>
            <a:ext cx="187451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750" b="0" i="0">
                <a:solidFill>
                  <a:srgbClr val="5A493F"/>
                </a:solidFill>
                <a:latin typeface="Segoe UI"/>
              </a:rPr>
              <a:t>FAT/SAT/T&amp;C · BCAA compatibility · main-works interface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635240" y="5870448"/>
            <a:ext cx="11430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750" b="1" i="0">
                <a:solidFill>
                  <a:srgbClr val="3E5C76"/>
                </a:solidFill>
                <a:latin typeface="Segoe UI"/>
              </a:rPr>
              <a:t>APMT / Spec.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365760" y="6537960"/>
            <a:ext cx="6492240" cy="0"/>
          </a:xfrm>
          <a:prstGeom prst="bentConnector3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3657600" y="6565392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8C7464"/>
                </a:solidFill>
                <a:latin typeface="Segoe UI"/>
              </a:rPr>
              <a:t>STRICTLY CONFIDENTIAL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8503920" y="6565392"/>
            <a:ext cx="0" cy="201167"/>
          </a:xfrm>
          <a:prstGeom prst="bentConnector3">
            <a:avLst/>
          </a:prstGeom>
          <a:ln w="25400">
            <a:solidFill>
              <a:srgbClr val="6D59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8595360" y="654710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D594C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6D594C"/>
                </a:solidFill>
                <a:latin typeface="Segoe UI"/>
              </a:rPr>
              <a:t>Document Volume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8C7464"/>
                </a:solidFill>
                <a:latin typeface="Segoe UI"/>
              </a:rPr>
              <a:t>The same Volume 0–8 logic for the airfield package, so PM/CS teams and bidders navigate consistently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298448"/>
            <a:ext cx="8229600" cy="0"/>
          </a:xfrm>
          <a:prstGeom prst="bentConnector3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65760" y="1481328"/>
            <a:ext cx="731520" cy="480059"/>
          </a:xfrm>
          <a:prstGeom prst="rect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81328"/>
            <a:ext cx="731520" cy="4800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V0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1481328"/>
            <a:ext cx="7635240" cy="480059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1517904"/>
            <a:ext cx="2743200" cy="4343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6D594C"/>
                </a:solidFill>
                <a:latin typeface="Segoe UI"/>
              </a:rPr>
              <a:t>IFC Master Register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517904"/>
            <a:ext cx="5029199" cy="4343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5A493F"/>
                </a:solidFill>
                <a:latin typeface="Segoe UI"/>
              </a:rPr>
              <a:t>One controlled register of every airfield drawing, spec, report, model &amp; reference document in the baseline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025395"/>
            <a:ext cx="731520" cy="480059"/>
          </a:xfrm>
          <a:prstGeom prst="rect">
            <a:avLst/>
          </a:prstGeom>
          <a:solidFill>
            <a:srgbClr val="6D5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025395"/>
            <a:ext cx="731520" cy="4800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V1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2025395"/>
            <a:ext cx="7635240" cy="4800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2061972"/>
            <a:ext cx="2743200" cy="4343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6D594C"/>
                </a:solidFill>
                <a:latin typeface="Segoe UI"/>
              </a:rPr>
              <a:t>Governing / Contract Docs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061972"/>
            <a:ext cx="5029199" cy="4343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5A493F"/>
                </a:solidFill>
                <a:latin typeface="Segoe UI"/>
              </a:rPr>
              <a:t>Conditions of Contract · Particular Conditions · contract data · forms · clarifications &amp; addenda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569464"/>
            <a:ext cx="731520" cy="480059"/>
          </a:xfrm>
          <a:prstGeom prst="rect">
            <a:avLst/>
          </a:prstGeom>
          <a:solidFill>
            <a:srgbClr val="6D5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2569464"/>
            <a:ext cx="731520" cy="4800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V2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2569464"/>
            <a:ext cx="7635240" cy="480059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2606040"/>
            <a:ext cx="2743200" cy="4343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6D594C"/>
                </a:solidFill>
                <a:latin typeface="Segoe UI"/>
              </a:rPr>
              <a:t>Technical Specifications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606040"/>
            <a:ext cx="5029199" cy="4343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5A493F"/>
                </a:solidFill>
                <a:latin typeface="Segoe UI"/>
              </a:rPr>
              <a:t>Airfield specs by zone, discipline &amp; system — pavement, drainage, AGL, NAVAIDS, MET, integrated building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113532"/>
            <a:ext cx="731520" cy="480059"/>
          </a:xfrm>
          <a:prstGeom prst="rect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3113532"/>
            <a:ext cx="731520" cy="4800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V3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3113532"/>
            <a:ext cx="7635240" cy="4800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80160" y="3150108"/>
            <a:ext cx="2743200" cy="4343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6D594C"/>
                </a:solidFill>
                <a:latin typeface="Segoe UI"/>
              </a:rPr>
              <a:t>BoQ / Pricing Schedules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3150108"/>
            <a:ext cx="5029199" cy="4343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5A493F"/>
                </a:solidFill>
                <a:latin typeface="Segoe UI"/>
              </a:rPr>
              <a:t>BoQ · rates · provisional sums · PC items · NSC pricing split · measurement rules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657600"/>
            <a:ext cx="731520" cy="480059"/>
          </a:xfrm>
          <a:prstGeom prst="rect">
            <a:avLst/>
          </a:prstGeom>
          <a:solidFill>
            <a:srgbClr val="6D5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657600"/>
            <a:ext cx="731520" cy="4800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V4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43000" y="3657600"/>
            <a:ext cx="7635240" cy="480059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80160" y="3694176"/>
            <a:ext cx="2743200" cy="4343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6D594C"/>
                </a:solidFill>
                <a:latin typeface="Segoe UI"/>
              </a:rPr>
              <a:t>Drawings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694176"/>
            <a:ext cx="5029199" cy="4343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5A493F"/>
                </a:solidFill>
                <a:latin typeface="Segoe UI"/>
              </a:rPr>
              <a:t>Airfield IFC drawings grouped by zone, discipline &amp; drawing type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201668"/>
            <a:ext cx="731520" cy="480059"/>
          </a:xfrm>
          <a:prstGeom prst="rect">
            <a:avLst/>
          </a:prstGeom>
          <a:solidFill>
            <a:srgbClr val="6D5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4201668"/>
            <a:ext cx="731520" cy="4800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V5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4201668"/>
            <a:ext cx="7635240" cy="4800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80160" y="4238244"/>
            <a:ext cx="2743200" cy="4343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6D594C"/>
                </a:solidFill>
                <a:latin typeface="Segoe UI"/>
              </a:rPr>
              <a:t>Reports / Site Information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0" y="4238244"/>
            <a:ext cx="5029199" cy="4343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5A493F"/>
                </a:solidFill>
                <a:latin typeface="Segoe UI"/>
              </a:rPr>
              <a:t>SI · geotech · hydrology · ESIA · survey · existing utilities — mark 'Contractual' vs 'For Info Only'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745736"/>
            <a:ext cx="731520" cy="480059"/>
          </a:xfrm>
          <a:prstGeom prst="rect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4745736"/>
            <a:ext cx="731520" cy="4800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V6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4745736"/>
            <a:ext cx="7635240" cy="480059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80160" y="4782312"/>
            <a:ext cx="2743200" cy="4343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6D594C"/>
                </a:solidFill>
                <a:latin typeface="Segoe UI"/>
              </a:rPr>
              <a:t>Project / GMC / Authority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0" y="4782312"/>
            <a:ext cx="5029199" cy="4343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5A493F"/>
                </a:solidFill>
                <a:latin typeface="Segoe UI"/>
              </a:rPr>
              <a:t>GMC · sustainability · OHS · BIM/CDE · local workforce · BCAA &amp; aerodrome certification requirements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5289804"/>
            <a:ext cx="731520" cy="480059"/>
          </a:xfrm>
          <a:prstGeom prst="rect">
            <a:avLst/>
          </a:prstGeom>
          <a:solidFill>
            <a:srgbClr val="6D5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5289804"/>
            <a:ext cx="731520" cy="4800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V7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43000" y="5289804"/>
            <a:ext cx="7635240" cy="4800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80160" y="5326380"/>
            <a:ext cx="2743200" cy="4343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6D594C"/>
                </a:solidFill>
                <a:latin typeface="Segoe UI"/>
              </a:rPr>
              <a:t>BIM / Digital Deliverables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5326380"/>
            <a:ext cx="5029199" cy="4343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5A493F"/>
                </a:solidFill>
                <a:latin typeface="Segoe UI"/>
              </a:rPr>
              <a:t>Airfield models · RVT/NWC/NWD/IFC · clash reports · model status · BEP · BIM QC · handover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833872"/>
            <a:ext cx="731520" cy="480059"/>
          </a:xfrm>
          <a:prstGeom prst="rect">
            <a:avLst/>
          </a:prstGeom>
          <a:solidFill>
            <a:srgbClr val="6D5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833872"/>
            <a:ext cx="731520" cy="4800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V8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143000" y="5833872"/>
            <a:ext cx="7635240" cy="480059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280160" y="5870448"/>
            <a:ext cx="2743200" cy="4343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6D594C"/>
                </a:solidFill>
                <a:latin typeface="Segoe UI"/>
              </a:rPr>
              <a:t>Interface &amp; Authority Register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0" y="5870448"/>
            <a:ext cx="5029199" cy="4343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5A493F"/>
                </a:solidFill>
                <a:latin typeface="Segoe UI"/>
              </a:rPr>
              <a:t>Interface matrix · BCAA / DoAT / NCHM tracker · RFI/TQ close-out · deviation register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65760" y="6537960"/>
            <a:ext cx="6492240" cy="0"/>
          </a:xfrm>
          <a:prstGeom prst="bentConnector3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3657600" y="6565392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8C7464"/>
                </a:solidFill>
                <a:latin typeface="Segoe UI"/>
              </a:rPr>
              <a:t>STRICTLY CONFIDENTIAL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503920" y="6565392"/>
            <a:ext cx="0" cy="201167"/>
          </a:xfrm>
          <a:prstGeom prst="bentConnector3">
            <a:avLst/>
          </a:prstGeom>
          <a:ln w="25400">
            <a:solidFill>
              <a:srgbClr val="6D59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8595360" y="654710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D594C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6D594C"/>
                </a:solidFill>
                <a:latin typeface="Segoe UI"/>
              </a:rPr>
              <a:t>Master Register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8C7464"/>
                </a:solidFill>
                <a:latin typeface="Segoe UI"/>
              </a:rPr>
              <a:t>The core control matrix APMT maintains for the airfield package — the single source of truth for the IFC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298448"/>
            <a:ext cx="8229600" cy="0"/>
          </a:xfrm>
          <a:prstGeom prst="bentConnector3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65760" y="1463040"/>
            <a:ext cx="4160520" cy="397764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90472"/>
            <a:ext cx="1691640" cy="3611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6D594C"/>
                </a:solidFill>
                <a:latin typeface="Segoe UI"/>
              </a:rPr>
              <a:t>Package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48840" y="1490472"/>
            <a:ext cx="2331720" cy="3611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5A493F"/>
                </a:solidFill>
                <a:latin typeface="Segoe UI"/>
              </a:rPr>
              <a:t>P01 Airfield (fixed)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97380"/>
            <a:ext cx="4160520" cy="3977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924812"/>
            <a:ext cx="1691640" cy="3611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6D594C"/>
                </a:solidFill>
                <a:latin typeface="Segoe UI"/>
              </a:rPr>
              <a:t>Asset / Zone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1924812"/>
            <a:ext cx="2331720" cy="3611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5A493F"/>
                </a:solidFill>
                <a:latin typeface="Segoe UI"/>
              </a:rPr>
              <a:t>Runway · Taxiway · Apron · Drainage · Earthworks · Integrated Building · ARFF · Perimeter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331720"/>
            <a:ext cx="4160520" cy="397764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359151"/>
            <a:ext cx="1691640" cy="3611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6D594C"/>
                </a:solidFill>
                <a:latin typeface="Segoe UI"/>
              </a:rPr>
              <a:t>Discipline / System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2359151"/>
            <a:ext cx="2331720" cy="3611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5A493F"/>
                </a:solidFill>
                <a:latin typeface="Segoe UI"/>
              </a:rPr>
              <a:t>CV DR AGL NAV MET ST AR ME EL SEC GEN BIM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66060"/>
            <a:ext cx="4160520" cy="3977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793491"/>
            <a:ext cx="1691640" cy="3611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6D594C"/>
                </a:solidFill>
                <a:latin typeface="Segoe UI"/>
              </a:rPr>
              <a:t>Document Type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2793491"/>
            <a:ext cx="2331720" cy="3611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5A493F"/>
                </a:solidFill>
                <a:latin typeface="Segoe UI"/>
              </a:rPr>
              <a:t>Drawing · Spec · Schedule · Report · Model · Calc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200400"/>
            <a:ext cx="4160520" cy="397764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227832"/>
            <a:ext cx="1691640" cy="3611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6D594C"/>
                </a:solidFill>
                <a:latin typeface="Segoe UI"/>
              </a:rPr>
              <a:t>Document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3227832"/>
            <a:ext cx="2331720" cy="3611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5A493F"/>
                </a:solidFill>
                <a:latin typeface="Segoe UI"/>
              </a:rPr>
              <a:t>Stable number — NOT dependent on date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634740"/>
            <a:ext cx="4160520" cy="3977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662172"/>
            <a:ext cx="1691640" cy="3611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6D594C"/>
                </a:solidFill>
                <a:latin typeface="Segoe UI"/>
              </a:rPr>
              <a:t>Document Title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48840" y="3662172"/>
            <a:ext cx="2331720" cy="3611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5A493F"/>
                </a:solidFill>
                <a:latin typeface="Segoe UI"/>
              </a:rPr>
              <a:t>Full drawing or specification title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069079"/>
            <a:ext cx="4160520" cy="397764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096511"/>
            <a:ext cx="1691640" cy="3611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6D594C"/>
                </a:solidFill>
                <a:latin typeface="Segoe UI"/>
              </a:rPr>
              <a:t>Revision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4096511"/>
            <a:ext cx="2331720" cy="3611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5A493F"/>
                </a:solidFill>
                <a:latin typeface="Segoe UI"/>
              </a:rPr>
              <a:t>A/B/C · Rev 0/1 · IFC-A/IFC-B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503420"/>
            <a:ext cx="4160520" cy="3977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530852"/>
            <a:ext cx="1691640" cy="3611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6D594C"/>
                </a:solidFill>
                <a:latin typeface="Segoe UI"/>
              </a:rPr>
              <a:t>Status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4530852"/>
            <a:ext cx="2331720" cy="3611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5A493F"/>
                </a:solidFill>
                <a:latin typeface="Segoe UI"/>
              </a:rPr>
              <a:t>WIP · For Review · For Tender · IFC · Superseded · As-Built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937760"/>
            <a:ext cx="4160520" cy="397764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965192"/>
            <a:ext cx="1691640" cy="3611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6D594C"/>
                </a:solidFill>
                <a:latin typeface="Segoe UI"/>
              </a:rPr>
              <a:t>IFC Baseline Date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48840" y="4965192"/>
            <a:ext cx="2331720" cy="3611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5A493F"/>
                </a:solidFill>
                <a:latin typeface="Segoe UI"/>
              </a:rPr>
              <a:t>Date included in the contractual IFC register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17720" y="1463040"/>
            <a:ext cx="4160520" cy="397764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09159" y="1490472"/>
            <a:ext cx="1691640" cy="3611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6D594C"/>
                </a:solidFill>
                <a:latin typeface="Segoe UI"/>
              </a:rPr>
              <a:t>Originator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1490472"/>
            <a:ext cx="2331720" cy="3611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5A493F"/>
                </a:solidFill>
                <a:latin typeface="Segoe UI"/>
              </a:rPr>
              <a:t>CAPE · AGL/NAV/MET specialists · Aurecon · survey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17720" y="1897380"/>
            <a:ext cx="4160520" cy="3977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09159" y="1924812"/>
            <a:ext cx="1691640" cy="3611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6D594C"/>
                </a:solidFill>
                <a:latin typeface="Segoe UI"/>
              </a:rPr>
              <a:t>Checker / Approver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1924812"/>
            <a:ext cx="2331720" cy="3611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5A493F"/>
                </a:solidFill>
                <a:latin typeface="Segoe UI"/>
              </a:rPr>
              <a:t>Designer checker · APMT reviewer · authority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17720" y="2331720"/>
            <a:ext cx="4160520" cy="397764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09159" y="2359151"/>
            <a:ext cx="1691640" cy="3611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6D594C"/>
                </a:solidFill>
                <a:latin typeface="Segoe UI"/>
              </a:rPr>
              <a:t>Related Spec / BoQ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2359151"/>
            <a:ext cx="2331720" cy="3611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5A493F"/>
                </a:solidFill>
                <a:latin typeface="Segoe UI"/>
              </a:rPr>
              <a:t>Cross-ref to spec section &amp; BoQ item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17720" y="2766060"/>
            <a:ext cx="4160520" cy="3977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09159" y="2793491"/>
            <a:ext cx="1691640" cy="3611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6D594C"/>
                </a:solidFill>
                <a:latin typeface="Segoe UI"/>
              </a:rPr>
              <a:t>Related Model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2793491"/>
            <a:ext cx="2331720" cy="3611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5A493F"/>
                </a:solidFill>
                <a:latin typeface="Segoe UI"/>
              </a:rPr>
              <a:t>BIM model file name &amp; revision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17720" y="3200400"/>
            <a:ext cx="4160520" cy="397764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09159" y="3227832"/>
            <a:ext cx="1691640" cy="3611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6D594C"/>
                </a:solidFill>
                <a:latin typeface="Segoe UI"/>
              </a:rPr>
              <a:t>Authority Dependency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3227832"/>
            <a:ext cx="2331720" cy="3611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5A493F"/>
                </a:solidFill>
                <a:latin typeface="Segoe UI"/>
              </a:rPr>
              <a:t>BCAA · DoAT · NCHM · BOC · Druk Air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17720" y="3634740"/>
            <a:ext cx="4160520" cy="3977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09159" y="3662172"/>
            <a:ext cx="1691640" cy="3611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6D594C"/>
                </a:solidFill>
                <a:latin typeface="Segoe UI"/>
              </a:rPr>
              <a:t>Interface Dependency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0" y="3662172"/>
            <a:ext cx="2331720" cy="3611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5A493F"/>
                </a:solidFill>
                <a:latin typeface="Segoe UI"/>
              </a:rPr>
              <a:t>Airfield–PTB · AGL–power · NAVAIDS–DoAT · MET–NCHM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17720" y="4069079"/>
            <a:ext cx="4160520" cy="397764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09159" y="4096511"/>
            <a:ext cx="1691640" cy="3611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6D594C"/>
                </a:solidFill>
                <a:latin typeface="Segoe UI"/>
              </a:rPr>
              <a:t>Contractual Status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0" y="4096511"/>
            <a:ext cx="2331720" cy="3611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5A493F"/>
                </a:solidFill>
                <a:latin typeface="Segoe UI"/>
              </a:rPr>
              <a:t>Contract Doc · Ref Only · CDP · Provisional Sum · NSC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617720" y="4503420"/>
            <a:ext cx="4160520" cy="3977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709159" y="4530852"/>
            <a:ext cx="1691640" cy="3611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6D594C"/>
                </a:solidFill>
                <a:latin typeface="Segoe UI"/>
              </a:rPr>
              <a:t>Remarks / Open Items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0" y="4530852"/>
            <a:ext cx="2331720" cy="3611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5A493F"/>
                </a:solidFill>
                <a:latin typeface="Segoe UI"/>
              </a:rPr>
              <a:t>Pending RFI · BoQ gap · BCAA compatibility · clarification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365760" y="6537960"/>
            <a:ext cx="6492240" cy="0"/>
          </a:xfrm>
          <a:prstGeom prst="bentConnector3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3657600" y="6565392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8C7464"/>
                </a:solidFill>
                <a:latin typeface="Segoe UI"/>
              </a:rPr>
              <a:t>STRICTLY CONFIDENTIAL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8503920" y="6565392"/>
            <a:ext cx="0" cy="201167"/>
          </a:xfrm>
          <a:prstGeom prst="bentConnector3">
            <a:avLst/>
          </a:prstGeom>
          <a:ln w="25400">
            <a:solidFill>
              <a:srgbClr val="6D59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8595360" y="654710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D594C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6D594C"/>
                </a:solidFill>
                <a:latin typeface="Segoe UI"/>
              </a:rPr>
              <a:t>Key Interfaces &amp; Hold Points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8C7464"/>
                </a:solidFill>
                <a:latin typeface="Segoe UI"/>
              </a:rPr>
              <a:t>Cross-package and authority interfaces carry the most airfield IFC risk — log and track each one in the V8 register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298448"/>
            <a:ext cx="8229600" cy="0"/>
          </a:xfrm>
          <a:prstGeom prst="bentConnector3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11480" y="1554480"/>
            <a:ext cx="4114800" cy="132588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554480"/>
            <a:ext cx="82296" cy="1325880"/>
          </a:xfrm>
          <a:prstGeom prst="rect">
            <a:avLst/>
          </a:prstGeom>
          <a:solidFill>
            <a:srgbClr val="A3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64207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D594C"/>
                </a:solidFill>
                <a:latin typeface="Segoe UI"/>
              </a:rPr>
              <a:t>Airfield ↔ PTB &amp; Landside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37490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493F"/>
                </a:solidFill>
                <a:latin typeface="Segoe UI"/>
              </a:rPr>
              <a:t>Apron edge, PBB/AVDGS positions, stand services and apron–terminal levels must reconcile with the PTB package before either freezes.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617720" y="1554480"/>
            <a:ext cx="4114800" cy="132588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17720" y="1554480"/>
            <a:ext cx="82296" cy="1325880"/>
          </a:xfrm>
          <a:prstGeom prst="rect">
            <a:avLst/>
          </a:prstGeom>
          <a:solidFill>
            <a:srgbClr val="A3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1664207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D594C"/>
                </a:solidFill>
                <a:latin typeface="Segoe UI"/>
              </a:rPr>
              <a:t>Airspace / NAVAIDS ↔ DoAT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011680"/>
            <a:ext cx="37490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493F"/>
                </a:solidFill>
                <a:latin typeface="Segoe UI"/>
              </a:rPr>
              <a:t>ILS / DME siting, critical &amp; sensitive areas and OLS must be cleared with DoAT / ANSP — this gates flight calibration.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63240"/>
            <a:ext cx="4114800" cy="132588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3063240"/>
            <a:ext cx="82296" cy="1325880"/>
          </a:xfrm>
          <a:prstGeom prst="rect">
            <a:avLst/>
          </a:prstGeom>
          <a:solidFill>
            <a:srgbClr val="E6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172968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D594C"/>
                </a:solidFill>
                <a:latin typeface="Segoe UI"/>
              </a:rPr>
              <a:t>BCAA Equipment Compatibility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520440"/>
            <a:ext cx="37490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493F"/>
                </a:solidFill>
                <a:latin typeface="Segoe UI"/>
              </a:rPr>
              <a:t>MET &amp; ATC equipment specifications must be aligned with BCAA before the equipment / NSC scope is frozen.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17720" y="3063240"/>
            <a:ext cx="4114800" cy="132588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17720" y="3063240"/>
            <a:ext cx="82296" cy="1325880"/>
          </a:xfrm>
          <a:prstGeom prst="rect">
            <a:avLst/>
          </a:prstGeom>
          <a:solidFill>
            <a:srgbClr val="A3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46320" y="3172968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D594C"/>
                </a:solidFill>
                <a:latin typeface="Segoe UI"/>
              </a:rPr>
              <a:t>Flight Calibration &amp; Certification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3520440"/>
            <a:ext cx="37490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493F"/>
                </a:solidFill>
                <a:latin typeface="Segoe UI"/>
              </a:rPr>
              <a:t>IFC pavement, AGL, markings, NAVAIDS and MET feed BCAA aerodrome certification — sequence with the ~2–3 year clock.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572000"/>
            <a:ext cx="4114800" cy="132588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4572000"/>
            <a:ext cx="82296" cy="1325880"/>
          </a:xfrm>
          <a:prstGeom prst="rect">
            <a:avLst/>
          </a:prstGeom>
          <a:solidFill>
            <a:srgbClr val="E6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681728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D594C"/>
                </a:solidFill>
                <a:latin typeface="Segoe UI"/>
              </a:rPr>
              <a:t>Drainage / River-Crossing ↔ ESIA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029200"/>
            <a:ext cx="37490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493F"/>
                </a:solidFill>
                <a:latin typeface="Segoe UI"/>
              </a:rPr>
              <a:t>Culverts and river-training works must align with ESIA mitigation and hydrology — exposure to authority oversight.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17720" y="4572000"/>
            <a:ext cx="4114800" cy="132588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17720" y="4572000"/>
            <a:ext cx="82296" cy="1325880"/>
          </a:xfrm>
          <a:prstGeom prst="rect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46320" y="4681728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D594C"/>
                </a:solidFill>
                <a:latin typeface="Segoe UI"/>
              </a:rPr>
              <a:t>NSC / Specialist Equipment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5029200"/>
            <a:ext cx="37490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493F"/>
                </a:solidFill>
                <a:latin typeface="Segoe UI"/>
              </a:rPr>
              <a:t>AGL, ILS/DME, ATC special and MET equipment need power, containment, siting and FAT/SAT/T&amp;C interfaces fixed with main works.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65760" y="6537960"/>
            <a:ext cx="6492240" cy="0"/>
          </a:xfrm>
          <a:prstGeom prst="bentConnector3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657600" y="6565392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8C7464"/>
                </a:solidFill>
                <a:latin typeface="Segoe UI"/>
              </a:rPr>
              <a:t>STRICTLY CONFIDENTIAL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03920" y="6565392"/>
            <a:ext cx="0" cy="201167"/>
          </a:xfrm>
          <a:prstGeom prst="bentConnector3">
            <a:avLst/>
          </a:prstGeom>
          <a:ln w="25400">
            <a:solidFill>
              <a:srgbClr val="6D59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595360" y="654710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D594C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6D594C"/>
                </a:solidFill>
                <a:latin typeface="Segoe UI"/>
              </a:rPr>
              <a:t>Drawing Coding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8C7464"/>
                </a:solidFill>
                <a:latin typeface="Segoe UI"/>
              </a:rPr>
              <a:t>A stable drawing number that never changes with the file name or issue date — GLU-P01-[Asset]-[Discipline]-[Type]-[Sequence]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298448"/>
            <a:ext cx="8229600" cy="0"/>
          </a:xfrm>
          <a:prstGeom prst="bentConnector3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11480" y="1417320"/>
            <a:ext cx="8275320" cy="502920"/>
          </a:xfrm>
          <a:prstGeom prst="rect">
            <a:avLst/>
          </a:prstGeom>
          <a:solidFill>
            <a:srgbClr val="6D5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82753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Segoe UI"/>
              </a:rPr>
              <a:t>GLU - P01 - [Asset] - [Discipline] - [Type] - [Sequence]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57400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A33D2E"/>
                </a:solidFill>
                <a:latin typeface="Segoe UI"/>
              </a:rPr>
              <a:t>Examples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359152"/>
            <a:ext cx="4069080" cy="384048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386584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6D594C"/>
                </a:solidFill>
                <a:latin typeface="Segoe UI"/>
              </a:rPr>
              <a:t>GLU-P01-RWY-CV-PLN-0001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386584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5A493F"/>
                </a:solidFill>
                <a:latin typeface="Segoe UI"/>
              </a:rPr>
              <a:t>Runway · Civil · Plan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775204"/>
            <a:ext cx="4069080" cy="384048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802636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6D594C"/>
                </a:solidFill>
                <a:latin typeface="Segoe UI"/>
              </a:rPr>
              <a:t>GLU-P01-RWY-CV-PRF-0005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802636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5A493F"/>
                </a:solidFill>
                <a:latin typeface="Segoe UI"/>
              </a:rPr>
              <a:t>Runway · Civil · Profile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191256"/>
            <a:ext cx="4069080" cy="384048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218688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6D594C"/>
                </a:solidFill>
                <a:latin typeface="Segoe UI"/>
              </a:rPr>
              <a:t>GLU-P01-TWY-CV-PLN-0050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218688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5A493F"/>
                </a:solidFill>
                <a:latin typeface="Segoe UI"/>
              </a:rPr>
              <a:t>Taxiway · Civil · Plan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607308"/>
            <a:ext cx="4069080" cy="384048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634740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6D594C"/>
                </a:solidFill>
                <a:latin typeface="Segoe UI"/>
              </a:rPr>
              <a:t>GLU-P01-APR-CV-LAY-0100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634740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5A493F"/>
                </a:solidFill>
                <a:latin typeface="Segoe UI"/>
              </a:rPr>
              <a:t>Apron · Civil · Stand layout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4023360"/>
            <a:ext cx="4069080" cy="384048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050792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6D594C"/>
                </a:solidFill>
                <a:latin typeface="Segoe UI"/>
              </a:rPr>
              <a:t>GLU-P01-APR-AGL-LAY-0120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4050792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5A493F"/>
                </a:solidFill>
                <a:latin typeface="Segoe UI"/>
              </a:rPr>
              <a:t>Apron · AGL · Layout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39412"/>
            <a:ext cx="4069080" cy="384048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466844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6D594C"/>
                </a:solidFill>
                <a:latin typeface="Segoe UI"/>
              </a:rPr>
              <a:t>GLU-P01-DRN-DR-PLN-0200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4466844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5A493F"/>
                </a:solidFill>
                <a:latin typeface="Segoe UI"/>
              </a:rPr>
              <a:t>Drainage · Plan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4855464"/>
            <a:ext cx="4069080" cy="384048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882896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6D594C"/>
                </a:solidFill>
                <a:latin typeface="Segoe UI"/>
              </a:rPr>
              <a:t>GLU-P01-IBG-AR-PLN-0300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4882896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5A493F"/>
                </a:solidFill>
                <a:latin typeface="Segoe UI"/>
              </a:rPr>
              <a:t>Integrated Building · Arch · Plan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5271516"/>
            <a:ext cx="4069080" cy="384048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5298948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6D594C"/>
                </a:solidFill>
                <a:latin typeface="Segoe UI"/>
              </a:rPr>
              <a:t>GLU-P01-IBG-ME-SCH-0320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5298948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5A493F"/>
                </a:solidFill>
                <a:latin typeface="Segoe UI"/>
              </a:rPr>
              <a:t>Integrated Building · Mech · Schedule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687568"/>
            <a:ext cx="4069080" cy="384048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5715000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6D594C"/>
                </a:solidFill>
                <a:latin typeface="Segoe UI"/>
              </a:rPr>
              <a:t>GLU-P01-NAV-SY-DIA-0400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5715000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5A493F"/>
                </a:solidFill>
                <a:latin typeface="Segoe UI"/>
              </a:rPr>
              <a:t>NAVAIDS · System diagram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205740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A33D2E"/>
                </a:solidFill>
                <a:latin typeface="Segoe UI"/>
              </a:rPr>
              <a:t>Discipline Codes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63440" y="2359152"/>
            <a:ext cx="4023360" cy="22860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54880" y="2368296"/>
            <a:ext cx="54864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A33D2E"/>
                </a:solidFill>
                <a:latin typeface="Segoe UI"/>
              </a:rPr>
              <a:t>CV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49240" y="2368296"/>
            <a:ext cx="329184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5A493F"/>
                </a:solidFill>
                <a:latin typeface="Segoe UI"/>
              </a:rPr>
              <a:t>Civil / Pavement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63440" y="2601468"/>
            <a:ext cx="4023360" cy="228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4880" y="2610612"/>
            <a:ext cx="54864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A33D2E"/>
                </a:solidFill>
                <a:latin typeface="Segoe UI"/>
              </a:rPr>
              <a:t>DR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49240" y="2610612"/>
            <a:ext cx="329184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5A493F"/>
                </a:solidFill>
                <a:latin typeface="Segoe UI"/>
              </a:rPr>
              <a:t>Drainage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663440" y="2843784"/>
            <a:ext cx="4023360" cy="22860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0" y="2852928"/>
            <a:ext cx="54864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A33D2E"/>
                </a:solidFill>
                <a:latin typeface="Segoe UI"/>
              </a:rPr>
              <a:t>AGL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49240" y="2852928"/>
            <a:ext cx="329184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5A493F"/>
                </a:solidFill>
                <a:latin typeface="Segoe UI"/>
              </a:rPr>
              <a:t>Airfield Ground Lighting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663440" y="3086100"/>
            <a:ext cx="4023360" cy="228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54880" y="3095244"/>
            <a:ext cx="54864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A33D2E"/>
                </a:solidFill>
                <a:latin typeface="Segoe UI"/>
              </a:rPr>
              <a:t>NAV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49240" y="3095244"/>
            <a:ext cx="329184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5A493F"/>
                </a:solidFill>
                <a:latin typeface="Segoe UI"/>
              </a:rPr>
              <a:t>NAVAIDS / ANS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663440" y="3328416"/>
            <a:ext cx="4023360" cy="22860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54880" y="3337560"/>
            <a:ext cx="54864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A33D2E"/>
                </a:solidFill>
                <a:latin typeface="Segoe UI"/>
              </a:rPr>
              <a:t>MET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49240" y="3337560"/>
            <a:ext cx="329184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5A493F"/>
                </a:solidFill>
                <a:latin typeface="Segoe UI"/>
              </a:rPr>
              <a:t>Meteorological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663440" y="3570732"/>
            <a:ext cx="4023360" cy="228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754880" y="3579876"/>
            <a:ext cx="54864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A33D2E"/>
                </a:solidFill>
                <a:latin typeface="Segoe UI"/>
              </a:rPr>
              <a:t>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49240" y="3579876"/>
            <a:ext cx="329184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5A493F"/>
                </a:solidFill>
                <a:latin typeface="Segoe UI"/>
              </a:rPr>
              <a:t>Structure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63440" y="3813048"/>
            <a:ext cx="4023360" cy="22860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54880" y="3822191"/>
            <a:ext cx="54864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A33D2E"/>
                </a:solidFill>
                <a:latin typeface="Segoe UI"/>
              </a:rPr>
              <a:t>AR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49240" y="3822191"/>
            <a:ext cx="329184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5A493F"/>
                </a:solidFill>
                <a:latin typeface="Segoe UI"/>
              </a:rPr>
              <a:t>Architecture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63440" y="4055364"/>
            <a:ext cx="4023360" cy="228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754880" y="4064508"/>
            <a:ext cx="54864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A33D2E"/>
                </a:solidFill>
                <a:latin typeface="Segoe UI"/>
              </a:rPr>
              <a:t>ME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49240" y="4064508"/>
            <a:ext cx="329184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5A493F"/>
                </a:solidFill>
                <a:latin typeface="Segoe UI"/>
              </a:rPr>
              <a:t>Mechanical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663440" y="4297680"/>
            <a:ext cx="4023360" cy="22860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54880" y="4306824"/>
            <a:ext cx="54864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A33D2E"/>
                </a:solidFill>
                <a:latin typeface="Segoe UI"/>
              </a:rPr>
              <a:t>EL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349240" y="4306824"/>
            <a:ext cx="329184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5A493F"/>
                </a:solidFill>
                <a:latin typeface="Segoe UI"/>
              </a:rPr>
              <a:t>Electrical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663440" y="4539996"/>
            <a:ext cx="4023360" cy="228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754880" y="4549140"/>
            <a:ext cx="54864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A33D2E"/>
                </a:solidFill>
                <a:latin typeface="Segoe UI"/>
              </a:rPr>
              <a:t>FP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49240" y="4549140"/>
            <a:ext cx="329184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5A493F"/>
                </a:solidFill>
                <a:latin typeface="Segoe UI"/>
              </a:rPr>
              <a:t>Fire Protection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663440" y="4782312"/>
            <a:ext cx="4023360" cy="22860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754880" y="4791456"/>
            <a:ext cx="54864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A33D2E"/>
                </a:solidFill>
                <a:latin typeface="Segoe UI"/>
              </a:rPr>
              <a:t>ICT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349240" y="4791456"/>
            <a:ext cx="329184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5A493F"/>
                </a:solidFill>
                <a:latin typeface="Segoe UI"/>
              </a:rPr>
              <a:t>ICT / ELV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663440" y="5024628"/>
            <a:ext cx="4023360" cy="228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754880" y="5033772"/>
            <a:ext cx="54864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A33D2E"/>
                </a:solidFill>
                <a:latin typeface="Segoe UI"/>
              </a:rPr>
              <a:t>SEC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349240" y="5033772"/>
            <a:ext cx="329184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5A493F"/>
                </a:solidFill>
                <a:latin typeface="Segoe UI"/>
              </a:rPr>
              <a:t>Security / Fencing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663440" y="5266944"/>
            <a:ext cx="4023360" cy="22860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754880" y="5276088"/>
            <a:ext cx="54864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A33D2E"/>
                </a:solidFill>
                <a:latin typeface="Segoe UI"/>
              </a:rPr>
              <a:t>LS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349240" y="5276088"/>
            <a:ext cx="329184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5A493F"/>
                </a:solidFill>
                <a:latin typeface="Segoe UI"/>
              </a:rPr>
              <a:t>Landscape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663440" y="5509260"/>
            <a:ext cx="4023360" cy="228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754880" y="5518404"/>
            <a:ext cx="54864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A33D2E"/>
                </a:solidFill>
                <a:latin typeface="Segoe UI"/>
              </a:rPr>
              <a:t>GEN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349240" y="5518404"/>
            <a:ext cx="329184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5A493F"/>
                </a:solidFill>
                <a:latin typeface="Segoe UI"/>
              </a:rPr>
              <a:t>General / Common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663440" y="5751576"/>
            <a:ext cx="4023360" cy="22860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754880" y="5760720"/>
            <a:ext cx="54864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A33D2E"/>
                </a:solidFill>
                <a:latin typeface="Segoe UI"/>
              </a:rPr>
              <a:t>BIM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349240" y="5760720"/>
            <a:ext cx="329184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5A493F"/>
                </a:solidFill>
                <a:latin typeface="Segoe UI"/>
              </a:rPr>
              <a:t>Digital Model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11480" y="6199632"/>
            <a:ext cx="8275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8C7464"/>
                </a:solidFill>
                <a:latin typeface="Segoe UI"/>
              </a:rPr>
              <a:t>Asset / Zone codes:  RWY Runway · TWY Taxiway · APR Apron · ERW Earthworks · DRN Drainage · IBG Integrated Building · ARF ARFF · PER Perimeter · RDS Airside Roads · UTL Utilities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365760" y="6537960"/>
            <a:ext cx="6492240" cy="0"/>
          </a:xfrm>
          <a:prstGeom prst="bentConnector3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3657600" y="6565392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8C7464"/>
                </a:solidFill>
                <a:latin typeface="Segoe UI"/>
              </a:rPr>
              <a:t>STRICTLY CONFIDENTIAL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8503920" y="6565392"/>
            <a:ext cx="0" cy="201167"/>
          </a:xfrm>
          <a:prstGeom prst="bentConnector3">
            <a:avLst/>
          </a:prstGeom>
          <a:ln w="25400">
            <a:solidFill>
              <a:srgbClr val="6D59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8595360" y="654710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D594C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6D594C"/>
                </a:solidFill>
                <a:latin typeface="Segoe UI"/>
              </a:rPr>
              <a:t>Specification Coding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8C7464"/>
                </a:solidFill>
                <a:latin typeface="Segoe UI"/>
              </a:rPr>
              <a:t>Use CSI MasterFormat as a reference, then add the airport-specific divisions — do not force airfield systems into building-only divisions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298448"/>
            <a:ext cx="8229600" cy="0"/>
          </a:xfrm>
          <a:prstGeom prst="bentConnector3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11480" y="141732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D594C"/>
                </a:solidFill>
                <a:latin typeface="Segoe UI"/>
              </a:rPr>
              <a:t>CSI MasterFormat (reference — incl. Integrated Building)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691640"/>
            <a:ext cx="4069080" cy="22860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3E5C76"/>
                </a:solidFill>
                <a:latin typeface="Segoe UI"/>
              </a:rPr>
              <a:t>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691640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5A493F"/>
                </a:solidFill>
                <a:latin typeface="Segoe UI"/>
              </a:rPr>
              <a:t>Procurement &amp; contract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931212"/>
            <a:ext cx="4069080" cy="228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31212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3E5C76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931212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5A493F"/>
                </a:solidFill>
                <a:latin typeface="Segoe UI"/>
              </a:rPr>
              <a:t>General · doc control · BIM/CDE · QA/QC · HSE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170785"/>
            <a:ext cx="4069080" cy="22860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170785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3E5C76"/>
                </a:solidFill>
                <a:latin typeface="Segoe U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170785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5A493F"/>
                </a:solidFill>
                <a:latin typeface="Segoe UI"/>
              </a:rPr>
              <a:t>Existing conditions · clearance · utilities diversion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410358"/>
            <a:ext cx="4069080" cy="228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410358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3E5C76"/>
                </a:solidFill>
                <a:latin typeface="Segoe U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410358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5A493F"/>
                </a:solidFill>
                <a:latin typeface="Segoe UI"/>
              </a:rPr>
              <a:t>Concrete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649931"/>
            <a:ext cx="4069080" cy="22860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2649931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3E5C76"/>
                </a:solidFill>
                <a:latin typeface="Segoe UI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2649931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5A493F"/>
                </a:solidFill>
                <a:latin typeface="Segoe UI"/>
              </a:rPr>
              <a:t>Metals / structural / green steel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2889504"/>
            <a:ext cx="4069080" cy="228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2889504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3E5C76"/>
                </a:solidFill>
                <a:latin typeface="Segoe UI"/>
              </a:rPr>
              <a:t>07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2889504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5A493F"/>
                </a:solidFill>
                <a:latin typeface="Segoe UI"/>
              </a:rPr>
              <a:t>Roofing · waterproofing · façade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129076"/>
            <a:ext cx="4069080" cy="22860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3129076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3E5C76"/>
                </a:solidFill>
                <a:latin typeface="Segoe UI"/>
              </a:rPr>
              <a:t>08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3129076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5A493F"/>
                </a:solidFill>
                <a:latin typeface="Segoe UI"/>
              </a:rPr>
              <a:t>Doors · windows · glazing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368649"/>
            <a:ext cx="4069080" cy="228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3368649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3E5C76"/>
                </a:solidFill>
                <a:latin typeface="Segoe UI"/>
              </a:rPr>
              <a:t>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3368649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5A493F"/>
                </a:solidFill>
                <a:latin typeface="Segoe UI"/>
              </a:rPr>
              <a:t>Finishes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3608222"/>
            <a:ext cx="4069080" cy="22860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3608222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3E5C76"/>
                </a:solidFill>
                <a:latin typeface="Segoe UI"/>
              </a:rPr>
              <a:t>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3608222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5A493F"/>
                </a:solidFill>
                <a:latin typeface="Segoe UI"/>
              </a:rPr>
              <a:t>Signage · wayfinding · specialties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3847795"/>
            <a:ext cx="4069080" cy="228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3847795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3E5C76"/>
                </a:solidFill>
                <a:latin typeface="Segoe UI"/>
              </a:rPr>
              <a:t>11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3847795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5A493F"/>
                </a:solidFill>
                <a:latin typeface="Segoe UI"/>
              </a:rPr>
              <a:t>Airport &amp; specialist equipment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4087368"/>
            <a:ext cx="4069080" cy="22860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4087368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3E5C76"/>
                </a:solidFill>
                <a:latin typeface="Segoe UI"/>
              </a:rPr>
              <a:t>21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" y="4087368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5A493F"/>
                </a:solidFill>
                <a:latin typeface="Segoe UI"/>
              </a:rPr>
              <a:t>Fire protection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4326940"/>
            <a:ext cx="4069080" cy="228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4326940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3E5C76"/>
                </a:solidFill>
                <a:latin typeface="Segoe UI"/>
              </a:rPr>
              <a:t>22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4326940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5A493F"/>
                </a:solidFill>
                <a:latin typeface="Segoe UI"/>
              </a:rPr>
              <a:t>Plumbing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4566513"/>
            <a:ext cx="4069080" cy="22860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4566513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3E5C76"/>
                </a:solidFill>
                <a:latin typeface="Segoe UI"/>
              </a:rPr>
              <a:t>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" y="4566513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5A493F"/>
                </a:solidFill>
                <a:latin typeface="Segoe UI"/>
              </a:rPr>
              <a:t>HVAC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4806086"/>
            <a:ext cx="4069080" cy="228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4806086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3E5C76"/>
                </a:solidFill>
                <a:latin typeface="Segoe UI"/>
              </a:rPr>
              <a:t>26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" y="4806086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5A493F"/>
                </a:solidFill>
                <a:latin typeface="Segoe UI"/>
              </a:rPr>
              <a:t>Electrical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" y="5045659"/>
            <a:ext cx="4069080" cy="22860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5045659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3E5C76"/>
                </a:solidFill>
                <a:latin typeface="Segoe UI"/>
              </a:rPr>
              <a:t>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1560" y="5045659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5A493F"/>
                </a:solidFill>
                <a:latin typeface="Segoe UI"/>
              </a:rPr>
              <a:t>Communications / ICT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1480" y="5285232"/>
            <a:ext cx="4069080" cy="228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2920" y="5285232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3E5C76"/>
                </a:solidFill>
                <a:latin typeface="Segoe UI"/>
              </a:rPr>
              <a:t>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1560" y="5285232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5A493F"/>
                </a:solidFill>
                <a:latin typeface="Segoe UI"/>
              </a:rPr>
              <a:t>Security / ELV / CCTV / access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5524804"/>
            <a:ext cx="4069080" cy="22860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2920" y="5524804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3E5C76"/>
                </a:solidFill>
                <a:latin typeface="Segoe UI"/>
              </a:rPr>
              <a:t>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51560" y="5524804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5A493F"/>
                </a:solidFill>
                <a:latin typeface="Segoe UI"/>
              </a:rPr>
              <a:t>Earthworks · ground improvement · slopes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1480" y="5764377"/>
            <a:ext cx="4069080" cy="228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2920" y="5764377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3E5C76"/>
                </a:solidFill>
                <a:latin typeface="Segoe UI"/>
              </a:rPr>
              <a:t>32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51560" y="5764377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5A493F"/>
                </a:solidFill>
                <a:latin typeface="Segoe UI"/>
              </a:rPr>
              <a:t>Pavement · roads · external works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11480" y="6003950"/>
            <a:ext cx="4069080" cy="22860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2920" y="6003950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 i="0">
                <a:solidFill>
                  <a:srgbClr val="3E5C76"/>
                </a:solidFill>
                <a:latin typeface="Segoe UI"/>
              </a:rPr>
              <a:t>33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1560" y="6003950"/>
            <a:ext cx="33832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5A493F"/>
                </a:solidFill>
                <a:latin typeface="Segoe UI"/>
              </a:rPr>
              <a:t>Utilities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141732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A33D2E"/>
                </a:solidFill>
                <a:latin typeface="Segoe UI"/>
              </a:rPr>
              <a:t>Airport-specific — primary for this package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663440" y="1691640"/>
            <a:ext cx="4023360" cy="484632"/>
          </a:xfrm>
          <a:prstGeom prst="rect">
            <a:avLst/>
          </a:prstGeom>
          <a:solidFill>
            <a:srgbClr val="F7E1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754880" y="1719072"/>
            <a:ext cx="7772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A33D2E"/>
                </a:solidFill>
                <a:latin typeface="Segoe UI"/>
              </a:rPr>
              <a:t>40-AF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532120" y="1719072"/>
            <a:ext cx="31089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5A493F"/>
                </a:solidFill>
                <a:latin typeface="Segoe UI"/>
              </a:rPr>
              <a:t>Airfield civil works, geometry &amp; pavements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663440" y="2226564"/>
            <a:ext cx="4023360" cy="484632"/>
          </a:xfrm>
          <a:prstGeom prst="rect">
            <a:avLst/>
          </a:prstGeom>
          <a:solidFill>
            <a:srgbClr val="F7E1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754880" y="2253996"/>
            <a:ext cx="7772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A33D2E"/>
                </a:solidFill>
                <a:latin typeface="Segoe UI"/>
              </a:rPr>
              <a:t>41-AF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32120" y="2253996"/>
            <a:ext cx="31089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5A493F"/>
                </a:solidFill>
                <a:latin typeface="Segoe UI"/>
              </a:rPr>
              <a:t>Airfield drainage, culverts, river-crossing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663440" y="2761488"/>
            <a:ext cx="4023360" cy="484632"/>
          </a:xfrm>
          <a:prstGeom prst="rect">
            <a:avLst/>
          </a:prstGeom>
          <a:solidFill>
            <a:srgbClr val="F7E1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754880" y="2788920"/>
            <a:ext cx="7772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A33D2E"/>
                </a:solidFill>
                <a:latin typeface="Segoe UI"/>
              </a:rPr>
              <a:t>42-AF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532120" y="2788920"/>
            <a:ext cx="31089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5A493F"/>
                </a:solidFill>
                <a:latin typeface="Segoe UI"/>
              </a:rPr>
              <a:t>Airfield markings, signage &amp; visual aids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663440" y="3296412"/>
            <a:ext cx="4023360" cy="484632"/>
          </a:xfrm>
          <a:prstGeom prst="rect">
            <a:avLst/>
          </a:prstGeom>
          <a:solidFill>
            <a:srgbClr val="F7E1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754880" y="3323844"/>
            <a:ext cx="7772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A33D2E"/>
                </a:solidFill>
                <a:latin typeface="Segoe UI"/>
              </a:rPr>
              <a:t>43-AF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532120" y="3323844"/>
            <a:ext cx="31089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5A493F"/>
                </a:solidFill>
                <a:latin typeface="Segoe UI"/>
              </a:rPr>
              <a:t>Airfield Ground Lighting &amp; ALCMS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663440" y="3831335"/>
            <a:ext cx="4023360" cy="484632"/>
          </a:xfrm>
          <a:prstGeom prst="rect">
            <a:avLst/>
          </a:prstGeom>
          <a:solidFill>
            <a:srgbClr val="F7E1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754880" y="3858768"/>
            <a:ext cx="7772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A33D2E"/>
                </a:solidFill>
                <a:latin typeface="Segoe UI"/>
              </a:rPr>
              <a:t>44-AF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532120" y="3858768"/>
            <a:ext cx="31089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5A493F"/>
                </a:solidFill>
                <a:latin typeface="Segoe UI"/>
              </a:rPr>
              <a:t>NAVAIDS, ANS &amp; airspace infrastructure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663440" y="4366260"/>
            <a:ext cx="4023360" cy="484632"/>
          </a:xfrm>
          <a:prstGeom prst="rect">
            <a:avLst/>
          </a:prstGeom>
          <a:solidFill>
            <a:srgbClr val="F7E1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754880" y="4393692"/>
            <a:ext cx="7772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A33D2E"/>
                </a:solidFill>
                <a:latin typeface="Segoe UI"/>
              </a:rPr>
              <a:t>45-AF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32120" y="4393692"/>
            <a:ext cx="31089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5A493F"/>
                </a:solidFill>
                <a:latin typeface="Segoe UI"/>
              </a:rPr>
              <a:t>Meteorological systems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663440" y="4901183"/>
            <a:ext cx="4023360" cy="484632"/>
          </a:xfrm>
          <a:prstGeom prst="rect">
            <a:avLst/>
          </a:prstGeom>
          <a:solidFill>
            <a:srgbClr val="F7E1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754880" y="4928616"/>
            <a:ext cx="7772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A33D2E"/>
                </a:solidFill>
                <a:latin typeface="Segoe UI"/>
              </a:rPr>
              <a:t>46-AF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532120" y="4928616"/>
            <a:ext cx="31089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5A493F"/>
                </a:solidFill>
                <a:latin typeface="Segoe UI"/>
              </a:rPr>
              <a:t>ARFF facilities &amp; fire training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663440" y="5436108"/>
            <a:ext cx="4023360" cy="484632"/>
          </a:xfrm>
          <a:prstGeom prst="rect">
            <a:avLst/>
          </a:prstGeom>
          <a:solidFill>
            <a:srgbClr val="F7E1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754880" y="5463540"/>
            <a:ext cx="7772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A33D2E"/>
                </a:solidFill>
                <a:latin typeface="Segoe UI"/>
              </a:rPr>
              <a:t>48-OR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532120" y="5463540"/>
            <a:ext cx="31089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5A493F"/>
                </a:solidFill>
                <a:latin typeface="Segoe UI"/>
              </a:rPr>
              <a:t>Testing, commissioning, ORAT, certification &amp; handover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365760" y="6537960"/>
            <a:ext cx="6492240" cy="0"/>
          </a:xfrm>
          <a:prstGeom prst="bentConnector3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3657600" y="6565392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8C7464"/>
                </a:solidFill>
                <a:latin typeface="Segoe UI"/>
              </a:rPr>
              <a:t>STRICTLY CONFIDENTIAL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8503920" y="6565392"/>
            <a:ext cx="0" cy="201167"/>
          </a:xfrm>
          <a:prstGeom prst="bentConnector3">
            <a:avLst/>
          </a:prstGeom>
          <a:ln w="25400">
            <a:solidFill>
              <a:srgbClr val="6D59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8595360" y="654710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D594C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6D594C"/>
                </a:solidFill>
                <a:latin typeface="Segoe UI"/>
              </a:rPr>
              <a:t>Minimum IFC Issue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8C7464"/>
                </a:solidFill>
                <a:latin typeface="Segoe UI"/>
              </a:rPr>
              <a:t>Before any airfield drawing or specification is marked IFC, the team confirms each item — all are mandatory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298448"/>
            <a:ext cx="8229600" cy="0"/>
          </a:xfrm>
          <a:prstGeom prst="bentConnector3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11480" y="1508760"/>
            <a:ext cx="4114800" cy="512064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27631"/>
            <a:ext cx="292608" cy="29260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54480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A493F"/>
                </a:solidFill>
                <a:latin typeface="Segoe UI"/>
              </a:rPr>
              <a:t>Included in the IFC master register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617720" y="1508760"/>
            <a:ext cx="4114800" cy="512064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0" y="1627631"/>
            <a:ext cx="292608" cy="29260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160020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6359" y="1554480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A493F"/>
                </a:solidFill>
                <a:latin typeface="Segoe UI"/>
              </a:rPr>
              <a:t>Revision identified and frozen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112264"/>
            <a:ext cx="41148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231136"/>
            <a:ext cx="292608" cy="29260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203704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157984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A493F"/>
                </a:solidFill>
                <a:latin typeface="Segoe UI"/>
              </a:rPr>
              <a:t>Design checker &amp; approver complete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17720" y="2112264"/>
            <a:ext cx="41148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754880" y="2231136"/>
            <a:ext cx="292608" cy="29260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0" y="2203704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59" y="2157984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A493F"/>
                </a:solidFill>
                <a:latin typeface="Segoe UI"/>
              </a:rPr>
              <a:t>APMT review complete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2715768"/>
            <a:ext cx="4114800" cy="512064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2834639"/>
            <a:ext cx="292608" cy="29260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80720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2761487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A493F"/>
                </a:solidFill>
                <a:latin typeface="Segoe UI"/>
              </a:rPr>
              <a:t>Critical RFIs / TQs closed or pending-listed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17720" y="2715768"/>
            <a:ext cx="4114800" cy="512064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754880" y="2834639"/>
            <a:ext cx="292608" cy="29260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0" y="280720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66359" y="2761487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A493F"/>
                </a:solidFill>
                <a:latin typeface="Segoe UI"/>
              </a:rPr>
              <a:t>Related specification cross-referenced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3319272"/>
            <a:ext cx="41148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3438144"/>
            <a:ext cx="292608" cy="29260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3410712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3364991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A493F"/>
                </a:solidFill>
                <a:latin typeface="Segoe UI"/>
              </a:rPr>
              <a:t>Related BoQ / pricing item cross-referenced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17720" y="3319272"/>
            <a:ext cx="41148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754880" y="3438144"/>
            <a:ext cx="292608" cy="29260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0" y="3410712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66359" y="3364991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A493F"/>
                </a:solidFill>
                <a:latin typeface="Segoe UI"/>
              </a:rPr>
              <a:t>BIM model revision aligned with drawing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3922776"/>
            <a:ext cx="4114800" cy="512064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4041648"/>
            <a:ext cx="292608" cy="29260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4014215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3968496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A493F"/>
                </a:solidFill>
                <a:latin typeface="Segoe UI"/>
              </a:rPr>
              <a:t>Interface with PTB &amp; landside checked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17720" y="3922776"/>
            <a:ext cx="4114800" cy="512064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754880" y="4041648"/>
            <a:ext cx="292608" cy="29260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0" y="4014215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66359" y="3968496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A493F"/>
                </a:solidFill>
                <a:latin typeface="Segoe UI"/>
              </a:rPr>
              <a:t>Authority dependency recorded (BCAA/DoAT/NCHM)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4526280"/>
            <a:ext cx="41148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48640" y="4645152"/>
            <a:ext cx="292608" cy="29260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461772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0120" y="4572000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A493F"/>
                </a:solidFill>
                <a:latin typeface="Segoe UI"/>
              </a:rPr>
              <a:t>NSC / specialist-equipment split identified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617720" y="4526280"/>
            <a:ext cx="41148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754880" y="4645152"/>
            <a:ext cx="292608" cy="29260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54880" y="461772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66359" y="4572000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A493F"/>
                </a:solidFill>
                <a:latin typeface="Segoe UI"/>
              </a:rPr>
              <a:t>Provisional sum / performance spec identified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" y="5129783"/>
            <a:ext cx="4114800" cy="512064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48640" y="5248655"/>
            <a:ext cx="292608" cy="29260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" y="5221223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0120" y="5175503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A493F"/>
                </a:solidFill>
                <a:latin typeface="Segoe UI"/>
              </a:rPr>
              <a:t>Marked 'Contract Document' or 'For Info Only'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17720" y="5129783"/>
            <a:ext cx="4114800" cy="512064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754880" y="5248655"/>
            <a:ext cx="292608" cy="29260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54880" y="5221223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66359" y="5175503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A493F"/>
                </a:solidFill>
                <a:latin typeface="Segoe UI"/>
              </a:rPr>
              <a:t>Superseded documents removed from baseline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365760" y="6537960"/>
            <a:ext cx="6492240" cy="0"/>
          </a:xfrm>
          <a:prstGeom prst="bentConnector3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3657600" y="6565392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8C7464"/>
                </a:solidFill>
                <a:latin typeface="Segoe UI"/>
              </a:rPr>
              <a:t>STRICTLY CONFIDENTIAL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8503920" y="6565392"/>
            <a:ext cx="0" cy="201167"/>
          </a:xfrm>
          <a:prstGeom prst="bentConnector3">
            <a:avLst/>
          </a:prstGeom>
          <a:ln w="25400">
            <a:solidFill>
              <a:srgbClr val="6D59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8595360" y="654710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D594C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6D594C"/>
                </a:solidFill>
                <a:latin typeface="Segoe UI"/>
              </a:rPr>
              <a:t>Roles &amp; Lead Ownership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8C7464"/>
                </a:solidFill>
                <a:latin typeface="Segoe UI"/>
              </a:rPr>
              <a:t>Clear ownership inside the airfield package — APMT governs the register, interface matrix and the IFC issue gate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298448"/>
            <a:ext cx="8229600" cy="0"/>
          </a:xfrm>
          <a:prstGeom prst="bentConnector3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11480" y="1554480"/>
            <a:ext cx="8275320" cy="64008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554480"/>
            <a:ext cx="91440" cy="640080"/>
          </a:xfrm>
          <a:prstGeom prst="rect">
            <a:avLst/>
          </a:prstGeom>
          <a:solidFill>
            <a:srgbClr val="A3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2194560" cy="5760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6D594C"/>
                </a:solidFill>
                <a:latin typeface="Segoe UI"/>
              </a:rPr>
              <a:t>APMT / PMO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1600200"/>
            <a:ext cx="4206240" cy="5760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5A493F"/>
                </a:solidFill>
                <a:latin typeface="Segoe UI"/>
              </a:rPr>
              <a:t>Overall airfield IFC governance · master register (V0) · interface &amp; authority registers (V8) · IFC issue gate · BoQ reconciliation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1600200"/>
            <a:ext cx="1371600" cy="5760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A33D2E"/>
                </a:solidFill>
                <a:latin typeface="Segoe UI"/>
              </a:rPr>
              <a:t>P01 governance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313432"/>
            <a:ext cx="827532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2313432"/>
            <a:ext cx="91440" cy="640080"/>
          </a:xfrm>
          <a:prstGeom prst="rect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359151"/>
            <a:ext cx="2194560" cy="5760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6D594C"/>
                </a:solidFill>
                <a:latin typeface="Segoe UI"/>
              </a:rPr>
              <a:t>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359151"/>
            <a:ext cx="4206240" cy="5760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5A493F"/>
                </a:solidFill>
                <a:latin typeface="Segoe UI"/>
              </a:rPr>
              <a:t>Airfield lead design — pavements, drainage, earthworks, AGL, markings, integrated building, perimeter &amp; roads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2359151"/>
            <a:ext cx="1371600" cy="5760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3E5C76"/>
                </a:solidFill>
                <a:latin typeface="Segoe UI"/>
              </a:rPr>
              <a:t>P01 main works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3072384"/>
            <a:ext cx="8275320" cy="64008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3072384"/>
            <a:ext cx="91440" cy="640080"/>
          </a:xfrm>
          <a:prstGeom prst="rect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118103"/>
            <a:ext cx="2194560" cy="5760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6D594C"/>
                </a:solidFill>
                <a:latin typeface="Segoe UI"/>
              </a:rPr>
              <a:t>AGL / Electrical Specialist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3118103"/>
            <a:ext cx="4206240" cy="5760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5A493F"/>
                </a:solidFill>
                <a:latin typeface="Segoe UI"/>
              </a:rPr>
              <a:t>Airfield Ground Lighting, ALCMS and visual aids — design &amp; equipment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3118103"/>
            <a:ext cx="1371600" cy="5760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3E5C76"/>
                </a:solidFill>
                <a:latin typeface="Segoe UI"/>
              </a:rPr>
              <a:t>AGL · ALCMS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831335"/>
            <a:ext cx="827532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" y="3831335"/>
            <a:ext cx="91440" cy="640080"/>
          </a:xfrm>
          <a:prstGeom prst="rect">
            <a:avLst/>
          </a:prstGeom>
          <a:solidFill>
            <a:srgbClr val="6D5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877055"/>
            <a:ext cx="2194560" cy="5760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6D594C"/>
                </a:solidFill>
                <a:latin typeface="Segoe UI"/>
              </a:rPr>
              <a:t>NAVAIDS / ANS Specialist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3877055"/>
            <a:ext cx="4206240" cy="5760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5A493F"/>
                </a:solidFill>
                <a:latin typeface="Segoe UI"/>
              </a:rPr>
              <a:t>ILS, DME and ANS siting, critical areas; coordination with DoAT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3877055"/>
            <a:ext cx="1371600" cy="5760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6D594C"/>
                </a:solidFill>
                <a:latin typeface="Segoe UI"/>
              </a:rPr>
              <a:t>NAV / ANS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590288"/>
            <a:ext cx="8275320" cy="64008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4590288"/>
            <a:ext cx="91440" cy="640080"/>
          </a:xfrm>
          <a:prstGeom prst="rect">
            <a:avLst/>
          </a:prstGeom>
          <a:solidFill>
            <a:srgbClr val="6D5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636007"/>
            <a:ext cx="2194560" cy="5760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6D594C"/>
                </a:solidFill>
                <a:latin typeface="Segoe UI"/>
              </a:rPr>
              <a:t>MET Specialist / NCHM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4636007"/>
            <a:ext cx="4206240" cy="5760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5A493F"/>
                </a:solidFill>
                <a:latin typeface="Segoe UI"/>
              </a:rPr>
              <a:t>Meteorological systems siting &amp; equipment; NCHM coordination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4636007"/>
            <a:ext cx="1371600" cy="5760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6D594C"/>
                </a:solidFill>
                <a:latin typeface="Segoe UI"/>
              </a:rPr>
              <a:t>MET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5349240"/>
            <a:ext cx="827532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1480" y="5349240"/>
            <a:ext cx="91440" cy="640080"/>
          </a:xfrm>
          <a:prstGeom prst="rect">
            <a:avLst/>
          </a:prstGeom>
          <a:solidFill>
            <a:srgbClr val="E6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5394959"/>
            <a:ext cx="2194560" cy="5760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6D594C"/>
                </a:solidFill>
                <a:latin typeface="Segoe UI"/>
              </a:rPr>
              <a:t>QS / Cost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26080" y="5394959"/>
            <a:ext cx="4206240" cy="5760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5A493F"/>
                </a:solidFill>
                <a:latin typeface="Segoe UI"/>
              </a:rPr>
              <a:t>BoQ, schedules of rates, provisional sums and the NSC pricing split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5394959"/>
            <a:ext cx="1371600" cy="5760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E68A00"/>
                </a:solidFill>
                <a:latin typeface="Segoe UI"/>
              </a:rPr>
              <a:t>V3 pricing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65760" y="6537960"/>
            <a:ext cx="6492240" cy="0"/>
          </a:xfrm>
          <a:prstGeom prst="bentConnector3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657600" y="6565392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8C7464"/>
                </a:solidFill>
                <a:latin typeface="Segoe UI"/>
              </a:rPr>
              <a:t>STRICTLY CONFIDENTIAL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503920" y="6565392"/>
            <a:ext cx="0" cy="201167"/>
          </a:xfrm>
          <a:prstGeom prst="bentConnector3">
            <a:avLst/>
          </a:prstGeom>
          <a:ln w="25400">
            <a:solidFill>
              <a:srgbClr val="6D59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595360" y="654710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D594C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6D594C"/>
                </a:solidFill>
                <a:latin typeface="Segoe UI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8C7464"/>
                </a:solidFill>
                <a:latin typeface="Segoe UI"/>
              </a:rPr>
              <a:t>Kick off within two weeks of this alignment — master register and coding first, then reconcile drawings, specs and BoQ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298448"/>
            <a:ext cx="8229600" cy="0"/>
          </a:xfrm>
          <a:prstGeom prst="bentConnector3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11480" y="1554480"/>
            <a:ext cx="8275320" cy="73152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6400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 i="0">
                <a:solidFill>
                  <a:srgbClr val="A33D2E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27632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D594C"/>
                </a:solidFill>
                <a:latin typeface="Segoe UI"/>
              </a:rPr>
              <a:t>Confirm organising principle &amp; coding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385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A493F"/>
                </a:solidFill>
                <a:latin typeface="Segoe UI"/>
              </a:rPr>
              <a:t>Lock Airfield(P01)→Asset→Discipline→Type→Number→Rev; freeze drawing &amp; specification coding (Slides 5/10/11).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64592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3E5C76"/>
                </a:solidFill>
                <a:latin typeface="Segoe UI"/>
              </a:rPr>
              <a:t>All / APMT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9659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6D594C"/>
                </a:solidFill>
                <a:latin typeface="Segoe UI"/>
              </a:rPr>
              <a:t>Week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395728"/>
            <a:ext cx="82753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395728"/>
            <a:ext cx="6400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 i="0">
                <a:solidFill>
                  <a:srgbClr val="A33D2E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6888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D594C"/>
                </a:solidFill>
                <a:latin typeface="Segoe UI"/>
              </a:rPr>
              <a:t>Stand up the Airfield IFC master register (V0)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779776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A493F"/>
                </a:solidFill>
                <a:latin typeface="Segoe UI"/>
              </a:rPr>
              <a:t>Create the register with all 17 control fields; one register for P01, owned by APMT.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487168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3E5C76"/>
                </a:solidFill>
                <a:latin typeface="Segoe UI"/>
              </a:rPr>
              <a:t>APMT / PMO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8072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6D594C"/>
                </a:solidFill>
                <a:latin typeface="Segoe UI"/>
              </a:rPr>
              <a:t>Week 1-2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236976"/>
            <a:ext cx="8275320" cy="73152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236976"/>
            <a:ext cx="6400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 i="0">
                <a:solidFill>
                  <a:srgbClr val="A33D2E"/>
                </a:solidFill>
                <a:latin typeface="Segoe U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331012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D594C"/>
                </a:solidFill>
                <a:latin typeface="Segoe UI"/>
              </a:rPr>
              <a:t>Reconcile drawings ↔ specs ↔ BoQ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362102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A493F"/>
                </a:solidFill>
                <a:latin typeface="Segoe UI"/>
              </a:rPr>
              <a:t>Close the ~16 BoQ gaps; map every drawing and specification to a BoQ item.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328416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3E5C76"/>
                </a:solidFill>
                <a:latin typeface="Segoe UI"/>
              </a:rPr>
              <a:t>CAPE / QS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6484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6D594C"/>
                </a:solidFill>
                <a:latin typeface="Segoe UI"/>
              </a:rPr>
              <a:t>Week 2-3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078224"/>
            <a:ext cx="82753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078224"/>
            <a:ext cx="6400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 i="0">
                <a:solidFill>
                  <a:srgbClr val="A33D2E"/>
                </a:solidFill>
                <a:latin typeface="Segoe U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4151376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D594C"/>
                </a:solidFill>
                <a:latin typeface="Segoe UI"/>
              </a:rPr>
              <a:t>Resolve BCAA compatibility &amp; open V8 tracker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446227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A493F"/>
                </a:solidFill>
                <a:latin typeface="Segoe UI"/>
              </a:rPr>
              <a:t>Align MET / ATC equipment specs with BCAA; start the BCAA / DoAT / NCHM dependency log.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4169663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3E5C76"/>
                </a:solidFill>
                <a:latin typeface="Segoe UI"/>
              </a:rPr>
              <a:t>APMT / Specialists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4897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6D594C"/>
                </a:solidFill>
                <a:latin typeface="Segoe UI"/>
              </a:rPr>
              <a:t>Week 2-3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919472"/>
            <a:ext cx="8275320" cy="73152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4919472"/>
            <a:ext cx="6400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 i="0">
                <a:solidFill>
                  <a:srgbClr val="A33D2E"/>
                </a:solidFill>
                <a:latin typeface="Segoe U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4992624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D594C"/>
                </a:solidFill>
                <a:latin typeface="Segoe UI"/>
              </a:rPr>
              <a:t>Dry-run the IFC issue checklist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3035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A493F"/>
                </a:solidFill>
                <a:latin typeface="Segoe UI"/>
              </a:rPr>
              <a:t>Test the 14-point gate on a sample airfield drawing set before the first contractual freeze.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5010912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3E5C76"/>
                </a:solidFill>
                <a:latin typeface="Segoe UI"/>
              </a:rPr>
              <a:t>All leads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53309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6D594C"/>
                </a:solidFill>
                <a:latin typeface="Segoe UI"/>
              </a:rPr>
              <a:t>Week 3-4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65760" y="6537960"/>
            <a:ext cx="6492240" cy="0"/>
          </a:xfrm>
          <a:prstGeom prst="bentConnector3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657600" y="6565392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8C7464"/>
                </a:solidFill>
                <a:latin typeface="Segoe UI"/>
              </a:rPr>
              <a:t>STRICTLY CONFIDENTIAL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503920" y="6565392"/>
            <a:ext cx="0" cy="201167"/>
          </a:xfrm>
          <a:prstGeom prst="bentConnector3">
            <a:avLst/>
          </a:prstGeom>
          <a:ln w="25400">
            <a:solidFill>
              <a:srgbClr val="6D59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595360" y="654710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D594C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6D594C"/>
                </a:solidFill>
                <a:latin typeface="Segoe UI"/>
              </a:rPr>
              <a:t>Review — Designer's Tender Lists vs IFC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8C7464"/>
                </a:solidFill>
                <a:latin typeface="Segoe UI"/>
              </a:rPr>
              <a:t>What CAP/AV issued on 20 Feb 2026 (TR 1005, Tender), assessed against the principles in this deck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298448"/>
            <a:ext cx="8229600" cy="0"/>
          </a:xfrm>
          <a:prstGeom prst="bentConnector3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11480" y="1508760"/>
            <a:ext cx="4023360" cy="365760"/>
          </a:xfrm>
          <a:prstGeom prst="rect">
            <a:avLst/>
          </a:prstGeom>
          <a:solidFill>
            <a:srgbClr val="A3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3886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Drawings — 765 across 6 transmittals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874519"/>
            <a:ext cx="4023360" cy="233172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993392"/>
            <a:ext cx="3749039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5A493F"/>
                </a:solidFill>
                <a:latin typeface="Segoe UI"/>
              </a:rPr>
              <a:t>•  ANB Arch 115 · ANB C&amp;S 148 · ANB M&amp;E 188</a:t>
            </a:r>
          </a:p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5A493F"/>
                </a:solidFill>
                <a:latin typeface="Segoe UI"/>
              </a:rPr>
              <a:t>•  Sitewide Utilities 147 · AFL 50 · Airfield 117</a:t>
            </a:r>
          </a:p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5A493F"/>
                </a:solidFill>
                <a:latin typeface="Segoe UI"/>
              </a:rPr>
              <a:t>•  Issue: TR 1005 · Tender · 20 Feb 2026</a:t>
            </a:r>
          </a:p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5A493F"/>
                </a:solidFill>
                <a:latin typeface="Segoe UI"/>
              </a:rPr>
              <a:t>•  Revision on every row is blank or "-"</a:t>
            </a:r>
          </a:p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5A493F"/>
                </a:solidFill>
                <a:latin typeface="Segoe UI"/>
              </a:rPr>
              <a:t>•  Organised by building / discipline transmittal, not one register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709160" y="1508760"/>
            <a:ext cx="4023360" cy="365760"/>
          </a:xfrm>
          <a:prstGeom prst="rect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0" y="1508760"/>
            <a:ext cx="3886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Specifications — 119 chapters / 6 disciplines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1874519"/>
            <a:ext cx="4023360" cy="233172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4608" y="1993392"/>
            <a:ext cx="3749039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5A493F"/>
                </a:solidFill>
                <a:latin typeface="Segoe UI"/>
              </a:rPr>
              <a:t>•  Arch 13 · Civil &amp; Structural 23 · M&amp;E 14</a:t>
            </a:r>
          </a:p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5A493F"/>
                </a:solidFill>
                <a:latin typeface="Segoe UI"/>
              </a:rPr>
              <a:t>•  Specialised System 3 (CNS &amp; MET, ALCMS, D&amp;B)</a:t>
            </a:r>
          </a:p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5A493F"/>
                </a:solidFill>
                <a:latin typeface="Segoe UI"/>
              </a:rPr>
              <a:t>•  Airfield Electrical E01–E38 · Mechanical M01–M28</a:t>
            </a:r>
          </a:p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5A493F"/>
                </a:solidFill>
                <a:latin typeface="Segoe UI"/>
              </a:rPr>
              <a:t>•  Numbered per-discipline "Chapter NN" (restarts each discipline)</a:t>
            </a:r>
          </a:p>
          <a:p>
            <a:pPr algn="l">
              <a:spcAft>
                <a:spcPts val="600"/>
              </a:spcAft>
            </a:pPr>
            <a:r>
              <a:rPr sz="950" b="0" i="0">
                <a:solidFill>
                  <a:srgbClr val="5A493F"/>
                </a:solidFill>
                <a:latin typeface="Segoe UI"/>
              </a:rPr>
              <a:t>•  Not mapped to CSI or airport-specific divisions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4389120"/>
            <a:ext cx="8321040" cy="365760"/>
          </a:xfrm>
          <a:prstGeom prst="rect">
            <a:avLst/>
          </a:prstGeom>
          <a:solidFill>
            <a:srgbClr val="6D5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389120"/>
            <a:ext cx="818387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Overall verdict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754880"/>
            <a:ext cx="8321040" cy="123444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892040"/>
            <a:ext cx="7955279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5A493F"/>
                </a:solidFill>
                <a:latin typeface="Segoe UI"/>
              </a:rPr>
              <a:t>Technically comprehensive design coverage — but issued as a Tender transmittal, not yet a controlled IFC baseline. Four moves convert it to IFC:</a:t>
            </a:r>
          </a:p>
          <a:p>
            <a:pPr algn="l">
              <a:spcBef>
                <a:spcPts val="400"/>
              </a:spcBef>
            </a:pPr>
            <a:r>
              <a:rPr sz="1100" b="1" i="0">
                <a:solidFill>
                  <a:srgbClr val="6D594C"/>
                </a:solidFill>
                <a:latin typeface="Segoe UI"/>
              </a:rPr>
              <a:t>1) one consolidated master register   2) frozen revision + status   3) harmonised numbering   4) drawing–spec–BoQ mapping.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65760" y="6537960"/>
            <a:ext cx="6492240" cy="0"/>
          </a:xfrm>
          <a:prstGeom prst="bentConnector3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657600" y="6565392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8C7464"/>
                </a:solidFill>
                <a:latin typeface="Segoe UI"/>
              </a:rPr>
              <a:t>STRICTLY CONFIDENTIAL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503920" y="6565392"/>
            <a:ext cx="0" cy="201167"/>
          </a:xfrm>
          <a:prstGeom prst="bentConnector3">
            <a:avLst/>
          </a:prstGeom>
          <a:ln w="25400">
            <a:solidFill>
              <a:srgbClr val="6D59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595360" y="654710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D594C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6D594C"/>
                </a:solidFill>
                <a:latin typeface="Segoe UI"/>
              </a:rPr>
              <a:t>Drawing List — Findings vs IFC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8C7464"/>
                </a:solidFill>
                <a:latin typeface="Segoe UI"/>
              </a:rPr>
              <a:t>Strong design content; the gaps are about control and structure, not coverage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298448"/>
            <a:ext cx="8229600" cy="0"/>
          </a:xfrm>
          <a:prstGeom prst="bentConnector3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11480" y="1481328"/>
            <a:ext cx="4114800" cy="3657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Segoe UI"/>
              </a:rPr>
              <a:t>Strengths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847088"/>
            <a:ext cx="4114800" cy="416052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72" y="1984248"/>
            <a:ext cx="3785615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0" b="1" i="0">
                <a:solidFill>
                  <a:srgbClr val="2E7D32"/>
                </a:solidFill>
                <a:latin typeface="Segoe UI"/>
              </a:rPr>
              <a:t>•  </a:t>
            </a:r>
            <a:r>
              <a:rPr sz="950" b="0" i="0">
                <a:solidFill>
                  <a:srgbClr val="5A493F"/>
                </a:solidFill>
                <a:latin typeface="Segoe UI"/>
              </a:rPr>
              <a:t>Broad airfield civil — geometry, spot levels, pavement type &amp; profile, grading, marking &amp; signage, drainage</a:t>
            </a:r>
          </a:p>
          <a:p>
            <a:pPr algn="l">
              <a:spcAft>
                <a:spcPts val="700"/>
              </a:spcAft>
            </a:pPr>
            <a:r>
              <a:rPr sz="1000" b="1" i="0">
                <a:solidFill>
                  <a:srgbClr val="2E7D32"/>
                </a:solidFill>
                <a:latin typeface="Segoe UI"/>
              </a:rPr>
              <a:t>•  </a:t>
            </a:r>
            <a:r>
              <a:rPr sz="950" b="0" i="0">
                <a:solidFill>
                  <a:srgbClr val="5A493F"/>
                </a:solidFill>
                <a:latin typeface="Segoe UI"/>
              </a:rPr>
              <a:t>Complete AGL/AFL set — lighting &amp; guidance signs, primary/secondary cabling, ducts, earthing, LPS, CCR</a:t>
            </a:r>
          </a:p>
          <a:p>
            <a:pPr algn="l">
              <a:spcAft>
                <a:spcPts val="700"/>
              </a:spcAft>
            </a:pPr>
            <a:r>
              <a:rPr sz="1000" b="1" i="0">
                <a:solidFill>
                  <a:srgbClr val="2E7D32"/>
                </a:solidFill>
                <a:latin typeface="Segoe UI"/>
              </a:rPr>
              <a:t>•  </a:t>
            </a:r>
            <a:r>
              <a:rPr sz="950" b="0" i="0">
                <a:solidFill>
                  <a:srgbClr val="5A493F"/>
                </a:solidFill>
                <a:latin typeface="Segoe UI"/>
              </a:rPr>
              <a:t>Integrated buildings covered — ATCT, MET, ARFF, AMF, GSE, AWM (Arch / C&amp;S / M&amp;E)</a:t>
            </a:r>
          </a:p>
          <a:p>
            <a:pPr algn="l">
              <a:spcAft>
                <a:spcPts val="700"/>
              </a:spcAft>
            </a:pPr>
            <a:r>
              <a:rPr sz="1000" b="1" i="0">
                <a:solidFill>
                  <a:srgbClr val="2E7D32"/>
                </a:solidFill>
                <a:latin typeface="Segoe UI"/>
              </a:rPr>
              <a:t>•  </a:t>
            </a:r>
            <a:r>
              <a:rPr sz="950" b="0" i="0">
                <a:solidFill>
                  <a:srgbClr val="5A493F"/>
                </a:solidFill>
                <a:latin typeface="Segoe UI"/>
              </a:rPr>
              <a:t>Perimeter &amp; security fence + sitewide utilities (fire hydrant, pump rooms, perimeter road)</a:t>
            </a:r>
          </a:p>
          <a:p>
            <a:pPr algn="l">
              <a:spcAft>
                <a:spcPts val="700"/>
              </a:spcAft>
            </a:pPr>
            <a:r>
              <a:rPr sz="1000" b="1" i="0">
                <a:solidFill>
                  <a:srgbClr val="2E7D32"/>
                </a:solidFill>
                <a:latin typeface="Segoe UI"/>
              </a:rPr>
              <a:t>•  </a:t>
            </a:r>
            <a:r>
              <a:rPr sz="950" b="0" i="0">
                <a:solidFill>
                  <a:srgbClr val="5A493F"/>
                </a:solidFill>
                <a:latin typeface="Segoe UI"/>
              </a:rPr>
              <a:t>"Design &amp; Build Items" already identified and grouped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617720" y="1481328"/>
            <a:ext cx="4114800" cy="365760"/>
          </a:xfrm>
          <a:prstGeom prst="rect">
            <a:avLst/>
          </a:prstGeom>
          <a:solidFill>
            <a:srgbClr val="A3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148132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Segoe UI"/>
              </a:rPr>
              <a:t>Gaps vs IFC rules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17720" y="1847088"/>
            <a:ext cx="4114800" cy="416052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82312" y="1984248"/>
            <a:ext cx="3785615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0" b="1" i="0">
                <a:solidFill>
                  <a:srgbClr val="A33D2E"/>
                </a:solidFill>
                <a:latin typeface="Segoe UI"/>
              </a:rPr>
              <a:t>•  </a:t>
            </a:r>
            <a:r>
              <a:rPr sz="950" b="0" i="0">
                <a:solidFill>
                  <a:srgbClr val="5A493F"/>
                </a:solidFill>
                <a:latin typeface="Segoe UI"/>
              </a:rPr>
              <a:t>Six separate transmittals, no single register</a:t>
            </a:r>
            <a:r>
              <a:rPr sz="850" b="0" i="1">
                <a:solidFill>
                  <a:srgbClr val="8C7464"/>
                </a:solidFill>
                <a:latin typeface="Segoe UI"/>
              </a:rPr>
              <a:t>  → Volume 0 / Slide 7</a:t>
            </a:r>
          </a:p>
          <a:p>
            <a:pPr algn="l">
              <a:spcAft>
                <a:spcPts val="700"/>
              </a:spcAft>
            </a:pPr>
            <a:r>
              <a:rPr sz="1000" b="1" i="0">
                <a:solidFill>
                  <a:srgbClr val="A33D2E"/>
                </a:solidFill>
                <a:latin typeface="Segoe UI"/>
              </a:rPr>
              <a:t>•  </a:t>
            </a:r>
            <a:r>
              <a:rPr sz="950" b="0" i="0">
                <a:solidFill>
                  <a:srgbClr val="5A493F"/>
                </a:solidFill>
                <a:latin typeface="Segoe UI"/>
              </a:rPr>
              <a:t>No status; revision blank or "-" on all 765 rows</a:t>
            </a:r>
            <a:r>
              <a:rPr sz="850" b="0" i="1">
                <a:solidFill>
                  <a:srgbClr val="8C7464"/>
                </a:solidFill>
                <a:latin typeface="Segoe UI"/>
              </a:rPr>
              <a:t>  → Register + Checklist / Slide 8·12</a:t>
            </a:r>
          </a:p>
          <a:p>
            <a:pPr algn="l">
              <a:spcAft>
                <a:spcPts val="700"/>
              </a:spcAft>
            </a:pPr>
            <a:r>
              <a:rPr sz="1000" b="1" i="0">
                <a:solidFill>
                  <a:srgbClr val="A33D2E"/>
                </a:solidFill>
                <a:latin typeface="Segoe UI"/>
              </a:rPr>
              <a:t>•  </a:t>
            </a:r>
            <a:r>
              <a:rPr sz="950" b="0" i="0">
                <a:solidFill>
                  <a:srgbClr val="5A493F"/>
                </a:solidFill>
                <a:latin typeface="Segoe UI"/>
              </a:rPr>
              <a:t>Numbering not harmonised — AV vs UTL, mixed _ / - / space, 3- vs 4-digit, 8 "---/XX" placeholders</a:t>
            </a:r>
            <a:r>
              <a:rPr sz="850" b="0" i="1">
                <a:solidFill>
                  <a:srgbClr val="8C7464"/>
                </a:solidFill>
                <a:latin typeface="Segoe UI"/>
              </a:rPr>
              <a:t>  → Drawing coding / Slide 10</a:t>
            </a:r>
          </a:p>
          <a:p>
            <a:pPr algn="l">
              <a:spcAft>
                <a:spcPts val="700"/>
              </a:spcAft>
            </a:pPr>
            <a:r>
              <a:rPr sz="1000" b="1" i="0">
                <a:solidFill>
                  <a:srgbClr val="A33D2E"/>
                </a:solidFill>
                <a:latin typeface="Segoe UI"/>
              </a:rPr>
              <a:t>•  </a:t>
            </a:r>
            <a:r>
              <a:rPr sz="950" b="0" i="0">
                <a:solidFill>
                  <a:srgbClr val="5A493F"/>
                </a:solidFill>
                <a:latin typeface="Segoe UI"/>
              </a:rPr>
              <a:t>Missing control fields — asset/zone, discipline, type, related spec/BoQ/model, dependencies, contractual status</a:t>
            </a:r>
            <a:r>
              <a:rPr sz="850" b="0" i="1">
                <a:solidFill>
                  <a:srgbClr val="8C7464"/>
                </a:solidFill>
                <a:latin typeface="Segoe UI"/>
              </a:rPr>
              <a:t>  → Master register / Slide 8</a:t>
            </a:r>
          </a:p>
          <a:p>
            <a:pPr algn="l">
              <a:spcAft>
                <a:spcPts val="700"/>
              </a:spcAft>
            </a:pPr>
            <a:r>
              <a:rPr sz="1000" b="1" i="0">
                <a:solidFill>
                  <a:srgbClr val="A33D2E"/>
                </a:solidFill>
                <a:latin typeface="Segoe UI"/>
              </a:rPr>
              <a:t>•  </a:t>
            </a:r>
            <a:r>
              <a:rPr sz="950" b="0" i="0">
                <a:solidFill>
                  <a:srgbClr val="5A493F"/>
                </a:solidFill>
                <a:latin typeface="Segoe UI"/>
              </a:rPr>
              <a:t>No P01 package code or consistent asset token</a:t>
            </a:r>
            <a:r>
              <a:rPr sz="850" b="0" i="1">
                <a:solidFill>
                  <a:srgbClr val="8C7464"/>
                </a:solidFill>
                <a:latin typeface="Segoe UI"/>
              </a:rPr>
              <a:t>  → Principle / Slide 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65760" y="6537960"/>
            <a:ext cx="6492240" cy="0"/>
          </a:xfrm>
          <a:prstGeom prst="bentConnector3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657600" y="6565392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8C7464"/>
                </a:solidFill>
                <a:latin typeface="Segoe UI"/>
              </a:rPr>
              <a:t>STRICTLY CONFIDENTIAL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503920" y="6565392"/>
            <a:ext cx="0" cy="201167"/>
          </a:xfrm>
          <a:prstGeom prst="bentConnector3">
            <a:avLst/>
          </a:prstGeom>
          <a:ln w="25400">
            <a:solidFill>
              <a:srgbClr val="6D59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595360" y="654710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D594C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6D594C"/>
                </a:solidFill>
                <a:latin typeface="Segoe UI"/>
              </a:rPr>
              <a:t>Specification List — Findings vs IFC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8C7464"/>
                </a:solidFill>
                <a:latin typeface="Segoe UI"/>
              </a:rPr>
              <a:t>Comprehensive discipline coverage; needs a stable, mapped, cross-referenced structure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298448"/>
            <a:ext cx="8229600" cy="0"/>
          </a:xfrm>
          <a:prstGeom prst="bentConnector3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11480" y="1481328"/>
            <a:ext cx="4114800" cy="3657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Segoe UI"/>
              </a:rPr>
              <a:t>Strengths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847088"/>
            <a:ext cx="4114800" cy="416052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72" y="1984248"/>
            <a:ext cx="3785615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0" b="1" i="0">
                <a:solidFill>
                  <a:srgbClr val="2E7D32"/>
                </a:solidFill>
                <a:latin typeface="Segoe UI"/>
              </a:rPr>
              <a:t>•  </a:t>
            </a:r>
            <a:r>
              <a:rPr sz="950" b="0" i="0">
                <a:solidFill>
                  <a:srgbClr val="5A493F"/>
                </a:solidFill>
                <a:latin typeface="Segoe UI"/>
              </a:rPr>
              <a:t>119 chapters; strong airfield systems — Electrical E01–E38 (AGL, CCR, INS sign, CCTV, access control)</a:t>
            </a:r>
          </a:p>
          <a:p>
            <a:pPr algn="l">
              <a:spcAft>
                <a:spcPts val="700"/>
              </a:spcAft>
            </a:pPr>
            <a:r>
              <a:rPr sz="1000" b="1" i="0">
                <a:solidFill>
                  <a:srgbClr val="2E7D32"/>
                </a:solidFill>
                <a:latin typeface="Segoe UI"/>
              </a:rPr>
              <a:t>•  </a:t>
            </a:r>
            <a:r>
              <a:rPr sz="950" b="0" i="0">
                <a:solidFill>
                  <a:srgbClr val="5A493F"/>
                </a:solidFill>
                <a:latin typeface="Segoe UI"/>
              </a:rPr>
              <a:t>Mechanical M01–M28 — fire hydrant, suppression, detection &amp; alarm, plumbing</a:t>
            </a:r>
          </a:p>
          <a:p>
            <a:pPr algn="l">
              <a:spcAft>
                <a:spcPts val="700"/>
              </a:spcAft>
            </a:pPr>
            <a:r>
              <a:rPr sz="1000" b="1" i="0">
                <a:solidFill>
                  <a:srgbClr val="2E7D32"/>
                </a:solidFill>
                <a:latin typeface="Segoe UI"/>
              </a:rPr>
              <a:t>•  </a:t>
            </a:r>
            <a:r>
              <a:rPr sz="950" b="0" i="0">
                <a:solidFill>
                  <a:srgbClr val="5A493F"/>
                </a:solidFill>
                <a:latin typeface="Segoe UI"/>
              </a:rPr>
              <a:t>Civil &amp; Structural — earthworks, subgrade, sub-base, flexible &amp; rigid pavement, marking, drainage, fencing + gate</a:t>
            </a:r>
          </a:p>
          <a:p>
            <a:pPr algn="l">
              <a:spcAft>
                <a:spcPts val="700"/>
              </a:spcAft>
            </a:pPr>
            <a:r>
              <a:rPr sz="1000" b="1" i="0">
                <a:solidFill>
                  <a:srgbClr val="2E7D32"/>
                </a:solidFill>
                <a:latin typeface="Segoe UI"/>
              </a:rPr>
              <a:t>•  </a:t>
            </a:r>
            <a:r>
              <a:rPr sz="950" b="0" i="0">
                <a:solidFill>
                  <a:srgbClr val="5A493F"/>
                </a:solidFill>
                <a:latin typeface="Segoe UI"/>
              </a:rPr>
              <a:t>Specialised System — CNS &amp; Meteorological Equipment, ALCMS, D&amp;B fire training &amp; security checkpoint</a:t>
            </a:r>
          </a:p>
          <a:p>
            <a:pPr algn="l">
              <a:spcAft>
                <a:spcPts val="700"/>
              </a:spcAft>
            </a:pPr>
            <a:r>
              <a:rPr sz="1000" b="1" i="0">
                <a:solidFill>
                  <a:srgbClr val="2E7D32"/>
                </a:solidFill>
                <a:latin typeface="Segoe UI"/>
              </a:rPr>
              <a:t>•  </a:t>
            </a:r>
            <a:r>
              <a:rPr sz="950" b="0" i="0">
                <a:solidFill>
                  <a:srgbClr val="5A493F"/>
                </a:solidFill>
                <a:latin typeface="Segoe UI"/>
              </a:rPr>
              <a:t>Discipline coverage broadly complete for airfield + integrated building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617720" y="1481328"/>
            <a:ext cx="4114800" cy="365760"/>
          </a:xfrm>
          <a:prstGeom prst="rect">
            <a:avLst/>
          </a:prstGeom>
          <a:solidFill>
            <a:srgbClr val="A3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148132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Segoe UI"/>
              </a:rPr>
              <a:t>Gaps vs IFC rules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17720" y="1847088"/>
            <a:ext cx="4114800" cy="416052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82312" y="1984248"/>
            <a:ext cx="3785615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0" b="1" i="0">
                <a:solidFill>
                  <a:srgbClr val="A33D2E"/>
                </a:solidFill>
                <a:latin typeface="Segoe UI"/>
              </a:rPr>
              <a:t>•  </a:t>
            </a:r>
            <a:r>
              <a:rPr sz="950" b="0" i="0">
                <a:solidFill>
                  <a:srgbClr val="5A493F"/>
                </a:solidFill>
                <a:latin typeface="Segoe UI"/>
              </a:rPr>
              <a:t>Numbers not unique — "Chapter 01: General" repeats; mixed Chapter 01 / 1 / E01 / M01</a:t>
            </a:r>
            <a:r>
              <a:rPr sz="850" b="0" i="1">
                <a:solidFill>
                  <a:srgbClr val="8C7464"/>
                </a:solidFill>
                <a:latin typeface="Segoe UI"/>
              </a:rPr>
              <a:t>  → Spec coding / Slide 11</a:t>
            </a:r>
          </a:p>
          <a:p>
            <a:pPr algn="l">
              <a:spcAft>
                <a:spcPts val="700"/>
              </a:spcAft>
            </a:pPr>
            <a:r>
              <a:rPr sz="1000" b="1" i="0">
                <a:solidFill>
                  <a:srgbClr val="A33D2E"/>
                </a:solidFill>
                <a:latin typeface="Segoe UI"/>
              </a:rPr>
              <a:t>•  </a:t>
            </a:r>
            <a:r>
              <a:rPr sz="950" b="0" i="0">
                <a:solidFill>
                  <a:srgbClr val="5A493F"/>
                </a:solidFill>
                <a:latin typeface="Segoe UI"/>
              </a:rPr>
              <a:t>Not mapped to CSI or 40-AF..48-OR airport divisions</a:t>
            </a:r>
            <a:r>
              <a:rPr sz="850" b="0" i="1">
                <a:solidFill>
                  <a:srgbClr val="8C7464"/>
                </a:solidFill>
                <a:latin typeface="Segoe UI"/>
              </a:rPr>
              <a:t>  → Spec coding / Slide 11</a:t>
            </a:r>
          </a:p>
          <a:p>
            <a:pPr algn="l">
              <a:spcAft>
                <a:spcPts val="700"/>
              </a:spcAft>
            </a:pPr>
            <a:r>
              <a:rPr sz="1000" b="1" i="0">
                <a:solidFill>
                  <a:srgbClr val="A33D2E"/>
                </a:solidFill>
                <a:latin typeface="Segoe UI"/>
              </a:rPr>
              <a:t>•  </a:t>
            </a:r>
            <a:r>
              <a:rPr sz="950" b="0" i="0">
                <a:solidFill>
                  <a:srgbClr val="5A493F"/>
                </a:solidFill>
                <a:latin typeface="Segoe UI"/>
              </a:rPr>
              <a:t>Fragmented "General" per discipline; no single Division 00/01 (procurement, doc control, BIM/CDE, QA/QC, HSE)</a:t>
            </a:r>
            <a:r>
              <a:rPr sz="850" b="0" i="1">
                <a:solidFill>
                  <a:srgbClr val="8C7464"/>
                </a:solidFill>
                <a:latin typeface="Segoe UI"/>
              </a:rPr>
              <a:t>  → IFC-00 / Volume 6</a:t>
            </a:r>
          </a:p>
          <a:p>
            <a:pPr algn="l">
              <a:spcAft>
                <a:spcPts val="700"/>
              </a:spcAft>
            </a:pPr>
            <a:r>
              <a:rPr sz="1000" b="1" i="0">
                <a:solidFill>
                  <a:srgbClr val="A33D2E"/>
                </a:solidFill>
                <a:latin typeface="Segoe UI"/>
              </a:rPr>
              <a:t>•  </a:t>
            </a:r>
            <a:r>
              <a:rPr sz="950" b="0" i="0">
                <a:solidFill>
                  <a:srgbClr val="5A493F"/>
                </a:solidFill>
                <a:latin typeface="Segoe UI"/>
              </a:rPr>
              <a:t>No overarching ORAT / aerodrome-certification / T&amp;C division</a:t>
            </a:r>
            <a:r>
              <a:rPr sz="850" b="0" i="1">
                <a:solidFill>
                  <a:srgbClr val="8C7464"/>
                </a:solidFill>
                <a:latin typeface="Segoe UI"/>
              </a:rPr>
              <a:t>  → 48-OR / Slide 9</a:t>
            </a:r>
          </a:p>
          <a:p>
            <a:pPr algn="l">
              <a:spcAft>
                <a:spcPts val="700"/>
              </a:spcAft>
            </a:pPr>
            <a:r>
              <a:rPr sz="1000" b="1" i="0">
                <a:solidFill>
                  <a:srgbClr val="A33D2E"/>
                </a:solidFill>
                <a:latin typeface="Segoe UI"/>
              </a:rPr>
              <a:t>•  </a:t>
            </a:r>
            <a:r>
              <a:rPr sz="950" b="0" i="0">
                <a:solidFill>
                  <a:srgbClr val="5A493F"/>
                </a:solidFill>
                <a:latin typeface="Segoe UI"/>
              </a:rPr>
              <a:t>No spec ↔ drawing ↔ BoQ cross-reference; ties to ~16 BoQ gaps</a:t>
            </a:r>
            <a:r>
              <a:rPr sz="850" b="0" i="1">
                <a:solidFill>
                  <a:srgbClr val="8C7464"/>
                </a:solidFill>
                <a:latin typeface="Segoe UI"/>
              </a:rPr>
              <a:t>  → Register + Why now / Slide 4·8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65760" y="6537960"/>
            <a:ext cx="6492240" cy="0"/>
          </a:xfrm>
          <a:prstGeom prst="bentConnector3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657600" y="6565392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8C7464"/>
                </a:solidFill>
                <a:latin typeface="Segoe UI"/>
              </a:rPr>
              <a:t>STRICTLY CONFIDENTIAL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503920" y="6565392"/>
            <a:ext cx="0" cy="201167"/>
          </a:xfrm>
          <a:prstGeom prst="bentConnector3">
            <a:avLst/>
          </a:prstGeom>
          <a:ln w="25400">
            <a:solidFill>
              <a:srgbClr val="6D59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595360" y="654710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D594C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6D594C"/>
                </a:solidFill>
                <a:latin typeface="Segoe UI"/>
              </a:rPr>
              <a:t>Coverage vs Airfield Work-Area Matrix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8C7464"/>
                </a:solidFill>
                <a:latin typeface="Segoe UI"/>
              </a:rPr>
              <a:t>Design coverage is strong; the items to watch are NAVAIDS, MET and the NSC equipment split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298448"/>
            <a:ext cx="8229600" cy="0"/>
          </a:xfrm>
          <a:prstGeom prst="bentConnector3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65760" y="1481328"/>
            <a:ext cx="2606040" cy="274320"/>
          </a:xfrm>
          <a:prstGeom prst="rect">
            <a:avLst/>
          </a:prstGeom>
          <a:solidFill>
            <a:srgbClr val="6D5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tIns="0" bIns="0"/>
          <a:lstStyle/>
          <a:p>
            <a:pPr algn="l"/>
            <a:r>
              <a:rPr sz="850" b="1" i="0">
                <a:solidFill>
                  <a:srgbClr val="FFFFFF"/>
                </a:solidFill>
                <a:latin typeface="Segoe UI"/>
              </a:rPr>
              <a:t>Work Area / Zone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2971800" y="1481328"/>
            <a:ext cx="640080" cy="274320"/>
          </a:xfrm>
          <a:prstGeom prst="rect">
            <a:avLst/>
          </a:prstGeom>
          <a:solidFill>
            <a:srgbClr val="6D5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tIns="0" bIns="0"/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Dwg</a:t>
            </a:r>
          </a:p>
        </p:txBody>
      </p:sp>
      <p:sp>
        <p:nvSpPr>
          <p:cNvPr id="7" name="Rectangle 6"/>
          <p:cNvSpPr/>
          <p:nvPr/>
        </p:nvSpPr>
        <p:spPr>
          <a:xfrm>
            <a:off x="3611880" y="1481328"/>
            <a:ext cx="640080" cy="274320"/>
          </a:xfrm>
          <a:prstGeom prst="rect">
            <a:avLst/>
          </a:prstGeom>
          <a:solidFill>
            <a:srgbClr val="6D5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tIns="0" bIns="0"/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Spec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1960" y="1481328"/>
            <a:ext cx="960120" cy="274320"/>
          </a:xfrm>
          <a:prstGeom prst="rect">
            <a:avLst/>
          </a:prstGeom>
          <a:solidFill>
            <a:srgbClr val="6D5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tIns="0" bIns="0"/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Status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80" y="1481328"/>
            <a:ext cx="3566160" cy="274320"/>
          </a:xfrm>
          <a:prstGeom prst="rect">
            <a:avLst/>
          </a:prstGeom>
          <a:solidFill>
            <a:srgbClr val="6D59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tIns="0" bIns="0"/>
          <a:lstStyle/>
          <a:p>
            <a:pPr algn="l"/>
            <a:r>
              <a:rPr sz="850" b="1" i="0">
                <a:solidFill>
                  <a:srgbClr val="FFFFFF"/>
                </a:solidFill>
                <a:latin typeface="Segoe UI"/>
              </a:rPr>
              <a:t>Note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755648"/>
            <a:ext cx="2606040" cy="41148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780" b="1" i="0">
                <a:solidFill>
                  <a:srgbClr val="A33D2E"/>
                </a:solidFill>
                <a:latin typeface="Segoe UI"/>
              </a:rPr>
              <a:t>Runway / Taxiway / Apron — pavement &amp; geometry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1800" y="1755648"/>
            <a:ext cx="640080" cy="41148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ctr"/>
            <a:r>
              <a:rPr sz="780" b="0" i="0">
                <a:solidFill>
                  <a:srgbClr val="5A493F"/>
                </a:solidFill>
                <a:latin typeface="Segoe UI"/>
              </a:rPr>
              <a:t>Yes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11880" y="1755648"/>
            <a:ext cx="640080" cy="41148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ctr"/>
            <a:r>
              <a:rPr sz="780" b="0" i="0">
                <a:solidFill>
                  <a:srgbClr val="5A493F"/>
                </a:solidFill>
                <a:latin typeface="Segoe UI"/>
              </a:rPr>
              <a:t>Yes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60" y="1755648"/>
            <a:ext cx="960120" cy="41148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/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Covered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12080" y="1755648"/>
            <a:ext cx="3566160" cy="41148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780" b="0" i="0">
                <a:solidFill>
                  <a:srgbClr val="5A493F"/>
                </a:solidFill>
                <a:latin typeface="Segoe UI"/>
              </a:rPr>
              <a:t>Geometry, spot levels, pavement type &amp; profile, marking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167128"/>
            <a:ext cx="260604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780" b="1" i="0">
                <a:solidFill>
                  <a:srgbClr val="A33D2E"/>
                </a:solidFill>
                <a:latin typeface="Segoe UI"/>
              </a:rPr>
              <a:t>Earthworks &amp; ground improvement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71800" y="2167128"/>
            <a:ext cx="64008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ctr"/>
            <a:r>
              <a:rPr sz="780" b="0" i="0">
                <a:solidFill>
                  <a:srgbClr val="5A493F"/>
                </a:solidFill>
                <a:latin typeface="Segoe UI"/>
              </a:rPr>
              <a:t>Yes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1880" y="2167128"/>
            <a:ext cx="64008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ctr"/>
            <a:r>
              <a:rPr sz="780" b="0" i="0">
                <a:solidFill>
                  <a:srgbClr val="5A493F"/>
                </a:solidFill>
                <a:latin typeface="Segoe UI"/>
              </a:rPr>
              <a:t>Yes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51960" y="2167128"/>
            <a:ext cx="960120" cy="41148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/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Covered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12080" y="2167128"/>
            <a:ext cx="356616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780" b="0" i="0">
                <a:solidFill>
                  <a:srgbClr val="5A493F"/>
                </a:solidFill>
                <a:latin typeface="Segoe UI"/>
              </a:rPr>
              <a:t>Grading plan; earthworks / subgrade specs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578608"/>
            <a:ext cx="2606040" cy="41148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780" b="1" i="0">
                <a:solidFill>
                  <a:srgbClr val="A33D2E"/>
                </a:solidFill>
                <a:latin typeface="Segoe UI"/>
              </a:rPr>
              <a:t>Drainage &amp; culverts / river-crossing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1800" y="2578608"/>
            <a:ext cx="640080" cy="41148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ctr"/>
            <a:r>
              <a:rPr sz="780" b="0" i="0">
                <a:solidFill>
                  <a:srgbClr val="5A493F"/>
                </a:solidFill>
                <a:latin typeface="Segoe UI"/>
              </a:rPr>
              <a:t>Yes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11880" y="2578608"/>
            <a:ext cx="640080" cy="41148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ctr"/>
            <a:r>
              <a:rPr sz="780" b="0" i="0">
                <a:solidFill>
                  <a:srgbClr val="5A493F"/>
                </a:solidFill>
                <a:latin typeface="Segoe UI"/>
              </a:rPr>
              <a:t>Yes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51960" y="2578608"/>
            <a:ext cx="960120" cy="41148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/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Covered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212080" y="2578608"/>
            <a:ext cx="3566160" cy="41148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780" b="0" i="0">
                <a:solidFill>
                  <a:srgbClr val="5A493F"/>
                </a:solidFill>
                <a:latin typeface="Segoe UI"/>
              </a:rPr>
              <a:t>Drainage layouts; river-bank protection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90088"/>
            <a:ext cx="260604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780" b="1" i="0">
                <a:solidFill>
                  <a:srgbClr val="A33D2E"/>
                </a:solidFill>
                <a:latin typeface="Segoe UI"/>
              </a:rPr>
              <a:t>AGL, ALCMS &amp; visual aids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71800" y="2990088"/>
            <a:ext cx="64008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ctr"/>
            <a:r>
              <a:rPr sz="780" b="0" i="0">
                <a:solidFill>
                  <a:srgbClr val="5A493F"/>
                </a:solidFill>
                <a:latin typeface="Segoe UI"/>
              </a:rPr>
              <a:t>Yes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11880" y="2990088"/>
            <a:ext cx="64008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ctr"/>
            <a:r>
              <a:rPr sz="780" b="0" i="0">
                <a:solidFill>
                  <a:srgbClr val="5A493F"/>
                </a:solidFill>
                <a:latin typeface="Segoe UI"/>
              </a:rPr>
              <a:t>Yes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51960" y="2990088"/>
            <a:ext cx="960120" cy="41148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/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Covered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12080" y="2990088"/>
            <a:ext cx="356616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780" b="0" i="0">
                <a:solidFill>
                  <a:srgbClr val="5A493F"/>
                </a:solidFill>
                <a:latin typeface="Segoe UI"/>
              </a:rPr>
              <a:t>Full AFL set; ALCMS spec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401568"/>
            <a:ext cx="2606040" cy="41148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780" b="1" i="0">
                <a:solidFill>
                  <a:srgbClr val="A33D2E"/>
                </a:solidFill>
                <a:latin typeface="Segoe UI"/>
              </a:rPr>
              <a:t>NAVAIDS / ANS (ILS, DME)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71800" y="3401568"/>
            <a:ext cx="640080" cy="41148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ctr"/>
            <a:r>
              <a:rPr sz="780" b="0" i="0">
                <a:solidFill>
                  <a:srgbClr val="5A493F"/>
                </a:solidFill>
                <a:latin typeface="Segoe UI"/>
              </a:rPr>
              <a:t>Part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11880" y="3401568"/>
            <a:ext cx="640080" cy="41148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ctr"/>
            <a:r>
              <a:rPr sz="780" b="0" i="0">
                <a:solidFill>
                  <a:srgbClr val="5A493F"/>
                </a:solidFill>
                <a:latin typeface="Segoe UI"/>
              </a:rPr>
              <a:t>Spec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51960" y="3401568"/>
            <a:ext cx="960120" cy="411480"/>
          </a:xfrm>
          <a:prstGeom prst="rect">
            <a:avLst/>
          </a:prstGeom>
          <a:solidFill>
            <a:srgbClr val="E6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/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Verify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12080" y="3401568"/>
            <a:ext cx="3566160" cy="41148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780" b="0" i="0">
                <a:solidFill>
                  <a:srgbClr val="5A493F"/>
                </a:solidFill>
                <a:latin typeface="Segoe UI"/>
              </a:rPr>
              <a:t>LLZ siting only; CNS as performance spec (NSC)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813048"/>
            <a:ext cx="260604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780" b="1" i="0">
                <a:solidFill>
                  <a:srgbClr val="A33D2E"/>
                </a:solidFill>
                <a:latin typeface="Segoe UI"/>
              </a:rPr>
              <a:t>Meteorological (MET)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71800" y="3813048"/>
            <a:ext cx="64008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ctr"/>
            <a:r>
              <a:rPr sz="780" b="0" i="0">
                <a:solidFill>
                  <a:srgbClr val="5A493F"/>
                </a:solidFill>
                <a:latin typeface="Segoe UI"/>
              </a:rPr>
              <a:t>Bldg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11880" y="3813048"/>
            <a:ext cx="64008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ctr"/>
            <a:r>
              <a:rPr sz="780" b="0" i="0">
                <a:solidFill>
                  <a:srgbClr val="5A493F"/>
                </a:solidFill>
                <a:latin typeface="Segoe UI"/>
              </a:rPr>
              <a:t>Spec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51960" y="3813048"/>
            <a:ext cx="960120" cy="411480"/>
          </a:xfrm>
          <a:prstGeom prst="rect">
            <a:avLst/>
          </a:prstGeom>
          <a:solidFill>
            <a:srgbClr val="E6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/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Verify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12080" y="3813048"/>
            <a:ext cx="356616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780" b="0" i="0">
                <a:solidFill>
                  <a:srgbClr val="5A493F"/>
                </a:solidFill>
                <a:latin typeface="Segoe UI"/>
              </a:rPr>
              <a:t>MET building in ANB; equipment via CNS/MET spec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224528"/>
            <a:ext cx="2606040" cy="41148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780" b="1" i="0">
                <a:solidFill>
                  <a:srgbClr val="A33D2E"/>
                </a:solidFill>
                <a:latin typeface="Segoe UI"/>
              </a:rPr>
              <a:t>Integrated Building (ATCT/ARFF/MET)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71800" y="4224528"/>
            <a:ext cx="640080" cy="41148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ctr"/>
            <a:r>
              <a:rPr sz="780" b="0" i="0">
                <a:solidFill>
                  <a:srgbClr val="5A493F"/>
                </a:solidFill>
                <a:latin typeface="Segoe UI"/>
              </a:rPr>
              <a:t>Yes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11880" y="4224528"/>
            <a:ext cx="640080" cy="41148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ctr"/>
            <a:r>
              <a:rPr sz="780" b="0" i="0">
                <a:solidFill>
                  <a:srgbClr val="5A493F"/>
                </a:solidFill>
                <a:latin typeface="Segoe UI"/>
              </a:rPr>
              <a:t>Yes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51960" y="4224528"/>
            <a:ext cx="960120" cy="41148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/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Covered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12080" y="4224528"/>
            <a:ext cx="3566160" cy="41148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780" b="0" i="0">
                <a:solidFill>
                  <a:srgbClr val="5A493F"/>
                </a:solidFill>
                <a:latin typeface="Segoe UI"/>
              </a:rPr>
              <a:t>ANB Arch / C&amp;S / M&amp;E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4636008"/>
            <a:ext cx="260604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780" b="1" i="0">
                <a:solidFill>
                  <a:srgbClr val="A33D2E"/>
                </a:solidFill>
                <a:latin typeface="Segoe UI"/>
              </a:rPr>
              <a:t>Perimeter, security &amp; access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71800" y="4636008"/>
            <a:ext cx="64008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ctr"/>
            <a:r>
              <a:rPr sz="780" b="0" i="0">
                <a:solidFill>
                  <a:srgbClr val="5A493F"/>
                </a:solidFill>
                <a:latin typeface="Segoe UI"/>
              </a:rPr>
              <a:t>Yes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11880" y="4636008"/>
            <a:ext cx="64008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ctr"/>
            <a:r>
              <a:rPr sz="780" b="0" i="0">
                <a:solidFill>
                  <a:srgbClr val="5A493F"/>
                </a:solidFill>
                <a:latin typeface="Segoe UI"/>
              </a:rPr>
              <a:t>Yes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51960" y="4636008"/>
            <a:ext cx="960120" cy="41148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/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Covered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12080" y="4636008"/>
            <a:ext cx="356616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780" b="0" i="0">
                <a:solidFill>
                  <a:srgbClr val="5A493F"/>
                </a:solidFill>
                <a:latin typeface="Segoe UI"/>
              </a:rPr>
              <a:t>Security fence + lighting; access control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5047488"/>
            <a:ext cx="2606040" cy="41148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780" b="1" i="0">
                <a:solidFill>
                  <a:srgbClr val="A33D2E"/>
                </a:solidFill>
                <a:latin typeface="Segoe UI"/>
              </a:rPr>
              <a:t>Airside roads, car park &amp; utilities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71800" y="5047488"/>
            <a:ext cx="640080" cy="41148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ctr"/>
            <a:r>
              <a:rPr sz="780" b="0" i="0">
                <a:solidFill>
                  <a:srgbClr val="5A493F"/>
                </a:solidFill>
                <a:latin typeface="Segoe UI"/>
              </a:rPr>
              <a:t>Yes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11880" y="5047488"/>
            <a:ext cx="640080" cy="41148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ctr"/>
            <a:r>
              <a:rPr sz="780" b="0" i="0">
                <a:solidFill>
                  <a:srgbClr val="5A493F"/>
                </a:solidFill>
                <a:latin typeface="Segoe UI"/>
              </a:rPr>
              <a:t>Yes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251960" y="5047488"/>
            <a:ext cx="960120" cy="41148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/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Covered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12080" y="5047488"/>
            <a:ext cx="3566160" cy="41148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780" b="0" i="0">
                <a:solidFill>
                  <a:srgbClr val="5A493F"/>
                </a:solidFill>
                <a:latin typeface="Segoe UI"/>
              </a:rPr>
              <a:t>Perimeter road; sitewide utilities; fire hydrant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5458968"/>
            <a:ext cx="260604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780" b="1" i="0">
                <a:solidFill>
                  <a:srgbClr val="A33D2E"/>
                </a:solidFill>
                <a:latin typeface="Segoe UI"/>
              </a:rPr>
              <a:t>NSC / specialist equipment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971800" y="5458968"/>
            <a:ext cx="64008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ctr"/>
            <a:r>
              <a:rPr sz="780" b="0" i="0">
                <a:solidFill>
                  <a:srgbClr val="5A493F"/>
                </a:solidFill>
                <a:latin typeface="Segoe UI"/>
              </a:rPr>
              <a:t>Spec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11880" y="5458968"/>
            <a:ext cx="64008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ctr"/>
            <a:r>
              <a:rPr sz="780" b="0" i="0">
                <a:solidFill>
                  <a:srgbClr val="5A493F"/>
                </a:solidFill>
                <a:latin typeface="Segoe UI"/>
              </a:rPr>
              <a:t>Spec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251960" y="5458968"/>
            <a:ext cx="960120" cy="411480"/>
          </a:xfrm>
          <a:prstGeom prst="rect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/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Confirm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212080" y="5458968"/>
            <a:ext cx="356616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38100" tIns="12700" bIns="12700"/>
          <a:lstStyle/>
          <a:p>
            <a:pPr algn="l"/>
            <a:r>
              <a:rPr sz="780" b="0" i="0">
                <a:solidFill>
                  <a:srgbClr val="5A493F"/>
                </a:solidFill>
                <a:latin typeface="Segoe UI"/>
              </a:rPr>
              <a:t>Mark NSC · FAT/SAT/T&amp;C · BCAA compatibility · BoQ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365760" y="6537960"/>
            <a:ext cx="6492240" cy="0"/>
          </a:xfrm>
          <a:prstGeom prst="bentConnector3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3657600" y="6565392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8C7464"/>
                </a:solidFill>
                <a:latin typeface="Segoe UI"/>
              </a:rPr>
              <a:t>STRICTLY CONFIDENTIAL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8503920" y="6565392"/>
            <a:ext cx="0" cy="201167"/>
          </a:xfrm>
          <a:prstGeom prst="bentConnector3">
            <a:avLst/>
          </a:prstGeom>
          <a:ln w="25400">
            <a:solidFill>
              <a:srgbClr val="6D59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8595360" y="654710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D594C"/>
                </a:solidFill>
                <a:latin typeface="Segoe U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6D594C"/>
                </a:solidFill>
                <a:latin typeface="Segoe UI"/>
              </a:rPr>
              <a:t>Actions to Make It IFC-Ready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8C7464"/>
                </a:solidFill>
                <a:latin typeface="Segoe UI"/>
              </a:rPr>
              <a:t>Five moves, in order — convert the Tender transmittals into a controlled IFC baseline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298448"/>
            <a:ext cx="8229600" cy="0"/>
          </a:xfrm>
          <a:prstGeom prst="bentConnector3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11480" y="1554480"/>
            <a:ext cx="8275320" cy="73152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713232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A33D2E"/>
                </a:solidFill>
                <a:latin typeface="Segoe UI"/>
              </a:rPr>
              <a:t>P1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627632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D594C"/>
                </a:solidFill>
                <a:latin typeface="Segoe UI"/>
              </a:rPr>
              <a:t>Consolidate into one master register (V0)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938528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A493F"/>
                </a:solidFill>
                <a:latin typeface="Segoe UI"/>
              </a:rPr>
              <a:t>All 765 drawings + 119 spec chapters as one row-per-document register, owned by APMT.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164592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3E5C76"/>
                </a:solidFill>
                <a:latin typeface="Segoe UI"/>
              </a:rPr>
              <a:t>APMT / PMO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196596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C7464"/>
                </a:solidFill>
                <a:latin typeface="Segoe UI"/>
              </a:rPr>
              <a:t>ref Slide 7·8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395728"/>
            <a:ext cx="82753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395728"/>
            <a:ext cx="713232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A33D2E"/>
                </a:solidFill>
                <a:latin typeface="Segoe UI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468880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D594C"/>
                </a:solidFill>
                <a:latin typeface="Segoe UI"/>
              </a:rPr>
              <a:t>Freeze revision &amp; add status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779776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A493F"/>
                </a:solidFill>
                <a:latin typeface="Segoe UI"/>
              </a:rPr>
              <a:t>Tag each document IFC / For Tender / Superseded; add IFC baseline date; replace blank/"-".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487168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3E5C76"/>
                </a:solidFill>
                <a:latin typeface="Segoe UI"/>
              </a:rPr>
              <a:t>APMT + designers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807208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C7464"/>
                </a:solidFill>
                <a:latin typeface="Segoe UI"/>
              </a:rPr>
              <a:t>ref Slide 8·12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236976"/>
            <a:ext cx="8275320" cy="73152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236976"/>
            <a:ext cx="713232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A33D2E"/>
                </a:solidFill>
                <a:latin typeface="Segoe UI"/>
              </a:rPr>
              <a:t>P3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310128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D594C"/>
                </a:solidFill>
                <a:latin typeface="Segoe UI"/>
              </a:rPr>
              <a:t>Harmonise the numbering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621024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A493F"/>
                </a:solidFill>
                <a:latin typeface="Segoe UI"/>
              </a:rPr>
              <a:t>One scheme GLU-P01-[Asset]-[Disc]-[Type]-[Seq]; fix AV/UTL, separators, digits; clear all "---/XX".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3328416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3E5C76"/>
                </a:solidFill>
                <a:latin typeface="Segoe UI"/>
              </a:rPr>
              <a:t>CAPE + APMT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3648456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C7464"/>
                </a:solidFill>
                <a:latin typeface="Segoe UI"/>
              </a:rPr>
              <a:t>ref Slide 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078224"/>
            <a:ext cx="82753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078224"/>
            <a:ext cx="713232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A33D2E"/>
                </a:solidFill>
                <a:latin typeface="Segoe UI"/>
              </a:rPr>
              <a:t>P4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4151376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D594C"/>
                </a:solidFill>
                <a:latin typeface="Segoe UI"/>
              </a:rPr>
              <a:t>Add control &amp; cross-reference fields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4462272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A493F"/>
                </a:solidFill>
                <a:latin typeface="Segoe UI"/>
              </a:rPr>
              <a:t>Asset/zone, discipline, type, related spec/BoQ/model, dependencies, contractual status (CDP/NSC/PS), checker.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4169663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3E5C76"/>
                </a:solidFill>
                <a:latin typeface="Segoe UI"/>
              </a:rPr>
              <a:t>APMT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4489704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C7464"/>
                </a:solidFill>
                <a:latin typeface="Segoe UI"/>
              </a:rPr>
              <a:t>ref Slide 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919472"/>
            <a:ext cx="8275320" cy="731520"/>
          </a:xfrm>
          <a:prstGeom prst="rect">
            <a:avLst/>
          </a:prstGeom>
          <a:solidFill>
            <a:srgbClr val="F4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4919472"/>
            <a:ext cx="713232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A33D2E"/>
                </a:solidFill>
                <a:latin typeface="Segoe UI"/>
              </a:rPr>
              <a:t>P5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4992624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D594C"/>
                </a:solidFill>
                <a:latin typeface="Segoe UI"/>
              </a:rPr>
              <a:t>Map specs to CSI + 40-AF..48-OR &amp; link BoQ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530352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A493F"/>
                </a:solidFill>
                <a:latin typeface="Segoe UI"/>
              </a:rPr>
              <a:t>Single Division 00/01; add ORAT/48-OR; cross-link spec–drawing–BoQ; close the ~16 BoQ gaps.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5010912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3E5C76"/>
                </a:solidFill>
                <a:latin typeface="Segoe UI"/>
              </a:rPr>
              <a:t>CAPE / QS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960" y="5330952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C7464"/>
                </a:solidFill>
                <a:latin typeface="Segoe UI"/>
              </a:rPr>
              <a:t>ref Slide 11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65760" y="6537960"/>
            <a:ext cx="6492240" cy="0"/>
          </a:xfrm>
          <a:prstGeom prst="bentConnector3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657600" y="6565392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8C7464"/>
                </a:solidFill>
                <a:latin typeface="Segoe UI"/>
              </a:rPr>
              <a:t>STRICTLY CONFIDENTIAL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503920" y="6565392"/>
            <a:ext cx="0" cy="201167"/>
          </a:xfrm>
          <a:prstGeom prst="bentConnector3">
            <a:avLst/>
          </a:prstGeom>
          <a:ln w="25400">
            <a:solidFill>
              <a:srgbClr val="6D59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595360" y="654710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D594C"/>
                </a:solidFill>
                <a:latin typeface="Segoe UI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