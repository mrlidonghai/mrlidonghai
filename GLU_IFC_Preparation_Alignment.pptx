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548640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TEAM ALIGNMENT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2779776"/>
            <a:ext cx="640080" cy="0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57200" y="2953512"/>
            <a:ext cx="7242048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306324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6D594C"/>
                </a:solidFill>
                <a:latin typeface="Segoe UI"/>
              </a:rPr>
              <a:t>IFC Preparation</a:t>
            </a:r>
          </a:p>
          <a:p>
            <a:pPr algn="l"/>
            <a:r>
              <a:rPr sz="3000" b="1" i="0">
                <a:solidFill>
                  <a:srgbClr val="6D594C"/>
                </a:solidFill>
                <a:latin typeface="Segoe UI"/>
              </a:rPr>
              <a:t>如何编制 IFC 发包文件包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177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8C7464"/>
                </a:solidFill>
                <a:latin typeface="Segoe UI"/>
              </a:rPr>
              <a:t>Gelephu Airport (GLU) · Structuring the Issued-For-Construction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40680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493F"/>
                </a:solidFill>
                <a:latin typeface="Segoe UI"/>
              </a:rPr>
              <a:t>APMT / PMO · Project Management Office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C7464"/>
                </a:solidFill>
                <a:latin typeface="Segoe UI"/>
              </a:rPr>
              <a:t>Package → Asset/Zone → Discipline/System → Document Type → Number → Revision/Status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目录  </a:t>
            </a:r>
            <a:r>
              <a:rPr sz="2200" b="1" i="0">
                <a:solidFill>
                  <a:srgbClr val="8C7464"/>
                </a:solidFill>
                <a:latin typeface="Segoe U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本次对齐覆盖 IFC 的组织原则、工程包矩阵、卷册结构、登记册、编码与发布门槛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544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33D2E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D594C"/>
                </a:solidFill>
                <a:latin typeface="Segoe UI"/>
              </a:rPr>
              <a:t>组织原则与工程包  Principle &amp; Packages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3 — 为什么要现在统一  Why align now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4 — IFC 组织原则  Organising principle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5 — 工程包矩阵 IFC-00~08  Package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5544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33D2E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6002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D594C"/>
                </a:solidFill>
                <a:latin typeface="Segoe UI"/>
              </a:rPr>
              <a:t>结构与控制工具  Structure &amp;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103120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6 — 卷册结构 Volume 0~8  Volume structure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7 — 图纸/规范登记册  Master register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8 — 关键接口与 Hold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33D2E"/>
                </a:solidFill>
                <a:latin typeface="Segoe U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02335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D594C"/>
                </a:solidFill>
                <a:latin typeface="Segoe UI"/>
              </a:rPr>
              <a:t>编码标准  Coding Standards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526279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9 — 图号编码 Drawing coding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10 — 规范编码 Specification coding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11 — IFC 发布检查清单  Issue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977639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33D2E"/>
                </a:solidFill>
                <a:latin typeface="Segoe U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402335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D594C"/>
                </a:solidFill>
                <a:latin typeface="Segoe UI"/>
              </a:rPr>
              <a:t>职责与下一步  Roles &amp; 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4526279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12 — 牵头责任 Lead ownership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13 — 工作流程 CDE workflow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14 — 下一步行动 Next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为什么现在统一  </a:t>
            </a:r>
            <a:r>
              <a:rPr sz="2200" b="1" i="0">
                <a:solidFill>
                  <a:srgbClr val="8C7464"/>
                </a:solidFill>
                <a:latin typeface="Segoe UI"/>
              </a:rPr>
              <a:t>Why Align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在第一份 IFC 冻结之前统一规则 — 否则各专业各包各自编号，后期无法控制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517904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33D2E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17904"/>
            <a:ext cx="7589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一个不可控的图纸清单是最大风险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If PTB, airfield, landside, airport systems and authority/interface items are mixed into one uncontrolled drawing list, FIDIC administration, tender evaluation and claims management all break 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23160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33D2E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7589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IFC 直接服务于合同与施工监理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34056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The IFC package feeds FIDIC administration, tender evaluation, contract award, construction supervision and future claims — it must be navigable by package, discipline and document type.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28415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33D2E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28415"/>
            <a:ext cx="7589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GLU 已有 PMO 数据室与命名规则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39311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WIP / Issued / Submission / Milestone Review folders already exist, with naming by date, project, originator, role, content and revision. IFC must build on this, not replace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33672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33D2E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33672"/>
            <a:ext cx="7589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图号必须稳定，独立于文件名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44568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File names change with issue date; the IFC drawing/spec NUMBER must stay stable so the contractual baseline can be tracked through revisions.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138928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33D2E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138928"/>
            <a:ext cx="7589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本次对齐的产出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49824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One agreed organising principle, the IFC-00~08 package matrix, the Volume 0~8 structure, the master register fields, drawing &amp; spec coding, and the IFC issue gate checklist.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IFC 组织原则  </a:t>
            </a:r>
            <a:r>
              <a:rPr sz="2200" b="1" i="0">
                <a:solidFill>
                  <a:srgbClr val="8C7464"/>
                </a:solidFill>
                <a:latin typeface="Segoe UI"/>
              </a:rPr>
              <a:t>Organising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先按合同包，再按专业/系统，最后按文档类型 — 这是整个 IFC 的骨架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1480" y="1828800"/>
            <a:ext cx="1298448" cy="960120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Package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Segoe UI"/>
              </a:rPr>
              <a:t>合同包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852927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A493F"/>
                </a:solidFill>
                <a:latin typeface="Segoe UI"/>
              </a:rPr>
              <a:t>IFC-00 ~ IFC-08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39" y="2144268"/>
            <a:ext cx="1463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8C7464"/>
                </a:solidFill>
                <a:latin typeface="Segoe UI"/>
              </a:rPr>
              <a:t>›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1368" y="1828800"/>
            <a:ext cx="1298448" cy="96012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Asset / Zone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Segoe UI"/>
              </a:rPr>
              <a:t>资产/区域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2852927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A493F"/>
                </a:solidFill>
                <a:latin typeface="Segoe UI"/>
              </a:rPr>
              <a:t>Runway · PTB · RCL · Fuel Farm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7" y="2144268"/>
            <a:ext cx="1463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8C7464"/>
                </a:solidFill>
                <a:latin typeface="Segoe U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91256" y="1828800"/>
            <a:ext cx="1298448" cy="960120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Discipline /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System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Segoe UI"/>
              </a:rPr>
              <a:t>专业/系统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2852927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A493F"/>
                </a:solidFill>
                <a:latin typeface="Segoe UI"/>
              </a:rPr>
              <a:t>AR · ST · CV · AGL · BHS · SEC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144268"/>
            <a:ext cx="1463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8C7464"/>
                </a:solidFill>
                <a:latin typeface="Segoe UI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81144" y="1828800"/>
            <a:ext cx="1298448" cy="96012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Document Type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Segoe UI"/>
              </a:rPr>
              <a:t>文档类型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852927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A493F"/>
                </a:solidFill>
                <a:latin typeface="Segoe UI"/>
              </a:rPr>
              <a:t>Drawing · Spec · Schedule ·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1304" y="2144268"/>
            <a:ext cx="1463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8C7464"/>
                </a:solidFill>
                <a:latin typeface="Segoe U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71032" y="1828800"/>
            <a:ext cx="1298448" cy="960120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Number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Segoe UI"/>
              </a:rPr>
              <a:t>编号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1032" y="2852927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A493F"/>
                </a:solidFill>
                <a:latin typeface="Segoe UI"/>
              </a:rPr>
              <a:t>Stable, date-independent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2144268"/>
            <a:ext cx="1463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8C7464"/>
                </a:solidFill>
                <a:latin typeface="Segoe UI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19" y="1828800"/>
            <a:ext cx="1298448" cy="96012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Revision /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Status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Segoe UI"/>
              </a:rPr>
              <a:t>版本/状态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9" y="2852927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A493F"/>
                </a:solidFill>
                <a:latin typeface="Segoe UI"/>
              </a:rPr>
              <a:t>IFC · Superseded · As-Built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794760"/>
            <a:ext cx="8275320" cy="77724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04487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C7464"/>
                </a:solidFill>
                <a:latin typeface="Segoe UI"/>
              </a:rPr>
              <a:t>示例 Worked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D594C"/>
                </a:solidFill>
                <a:latin typeface="Segoe UI"/>
              </a:rPr>
              <a:t>GLU-P02-PTB-AR-PLN-0101  =  Package 2 PTB · Architecture · Plan · drawing 0101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800600"/>
            <a:ext cx="8275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493F"/>
                </a:solidFill>
                <a:latin typeface="Segoe UI"/>
              </a:rPr>
              <a:t>原则收益 Why it works：避免把 PTB、机场跑道、陆侧、机场系统和当局/接口事项混入同一份不可控清单；每一份文件都能定位到包、资产、专业、类型与版本，便于 FIDIC 管理、评标、授标与索赔管理。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IFC 工程包矩阵  </a:t>
            </a:r>
            <a:r>
              <a:rPr sz="2200" b="1" i="0">
                <a:solidFill>
                  <a:srgbClr val="8C7464"/>
                </a:solidFill>
                <a:latin typeface="Segoe UI"/>
              </a:rPr>
              <a:t>Package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九个 IFC 包 — 每个包都有明确的主范围、关键专业、接口/Hold Points 与牵头责任方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481328"/>
            <a:ext cx="868680" cy="274320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0" bIns="0"/>
          <a:lstStyle/>
          <a:p>
            <a:pPr algn="l"/>
            <a:r>
              <a:rPr sz="850" b="1" i="0">
                <a:solidFill>
                  <a:srgbClr val="FFFFFF"/>
                </a:solidFill>
                <a:latin typeface="Segoe UI"/>
              </a:rPr>
              <a:t>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481328"/>
            <a:ext cx="3611880" cy="274320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0" bIns="0"/>
          <a:lstStyle/>
          <a:p>
            <a:pPr algn="l"/>
            <a:r>
              <a:rPr sz="850" b="1" i="0">
                <a:solidFill>
                  <a:srgbClr val="FFFFFF"/>
                </a:solidFill>
                <a:latin typeface="Segoe UI"/>
              </a:rPr>
              <a:t>Main Scope / Key Disciplines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481328"/>
            <a:ext cx="2606040" cy="274320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0" bIns="0"/>
          <a:lstStyle/>
          <a:p>
            <a:pPr algn="l"/>
            <a:r>
              <a:rPr sz="850" b="1" i="0">
                <a:solidFill>
                  <a:srgbClr val="FFFFFF"/>
                </a:solidFill>
                <a:latin typeface="Segoe UI"/>
              </a:rPr>
              <a:t>Key Interface / Hold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0" y="1481328"/>
            <a:ext cx="1325880" cy="274320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0" bIns="0"/>
          <a:lstStyle/>
          <a:p>
            <a:pPr algn="l"/>
            <a:r>
              <a:rPr sz="850" b="1" i="0">
                <a:solidFill>
                  <a:srgbClr val="FFFFFF"/>
                </a:solidFill>
                <a:latin typeface="Segoe UI"/>
              </a:rPr>
              <a:t>Lead Owner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55648"/>
            <a:ext cx="868680" cy="5074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900" b="1" i="0">
                <a:solidFill>
                  <a:srgbClr val="A33D2E"/>
                </a:solidFill>
                <a:latin typeface="Segoe UI"/>
              </a:rPr>
              <a:t>IFC-00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1755648"/>
            <a:ext cx="3611880" cy="5074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General / Common Requirements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55648"/>
            <a:ext cx="2606040" cy="5074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Contract order · registers · interface matrix · RFI/TQ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1755648"/>
            <a:ext cx="1325880" cy="5074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1" i="0">
                <a:solidFill>
                  <a:srgbClr val="3E5C76"/>
                </a:solidFill>
                <a:latin typeface="Segoe UI"/>
              </a:rPr>
              <a:t>APMT / PMO / QS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63140"/>
            <a:ext cx="868680" cy="5074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900" b="1" i="0">
                <a:solidFill>
                  <a:srgbClr val="A33D2E"/>
                </a:solidFill>
                <a:latin typeface="Segoe UI"/>
              </a:rPr>
              <a:t>IFC-01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" y="2263140"/>
            <a:ext cx="3611880" cy="5074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Airfield &amp; Integrated Building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263140"/>
            <a:ext cx="2606040" cy="5074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PTB · airspace · DoAT · BCAA · flight calibration · certification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2263140"/>
            <a:ext cx="1325880" cy="5074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1" i="0">
                <a:solidFill>
                  <a:srgbClr val="3E5C76"/>
                </a:solidFill>
                <a:latin typeface="Segoe UI"/>
              </a:rPr>
              <a:t>CAPE / APMT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70632"/>
            <a:ext cx="868680" cy="5074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900" b="1" i="0">
                <a:solidFill>
                  <a:srgbClr val="A33D2E"/>
                </a:solidFill>
                <a:latin typeface="Segoe UI"/>
              </a:rPr>
              <a:t>IFC-02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40" y="2770632"/>
            <a:ext cx="3611880" cy="5074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PTB &amp; Landside Main Works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2770632"/>
            <a:ext cx="2606040" cy="5074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Apron · PBB · security · Customs · Immigration · airlines · municipal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2770632"/>
            <a:ext cx="1325880" cy="5074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1" i="0">
                <a:solidFill>
                  <a:srgbClr val="3E5C76"/>
                </a:solidFill>
                <a:latin typeface="Segoe UI"/>
              </a:rPr>
              <a:t>BIG / Aurecon / CAPE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78124"/>
            <a:ext cx="868680" cy="5074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900" b="1" i="0">
                <a:solidFill>
                  <a:srgbClr val="A33D2E"/>
                </a:solidFill>
                <a:latin typeface="Segoe UI"/>
              </a:rPr>
              <a:t>IFC-03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4440" y="3278124"/>
            <a:ext cx="3611880" cy="5074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PTB Annex / Support Buildings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3278124"/>
            <a:ext cx="2606040" cy="5074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PTB · back-of-house · goods &amp; waste flow · utilities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3278124"/>
            <a:ext cx="1325880" cy="5074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1" i="0">
                <a:solidFill>
                  <a:srgbClr val="3E5C76"/>
                </a:solidFill>
                <a:latin typeface="Segoe UI"/>
              </a:rPr>
              <a:t>D103i / Aurecon / APMT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85616"/>
            <a:ext cx="868680" cy="5074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900" b="1" i="0">
                <a:solidFill>
                  <a:srgbClr val="A33D2E"/>
                </a:solidFill>
                <a:latin typeface="Segoe UI"/>
              </a:rPr>
              <a:t>IFC-04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34440" y="3785616"/>
            <a:ext cx="3611880" cy="5074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GA Terminal / Royal Ceremonial Lounge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3785616"/>
            <a:ext cx="2606040" cy="5074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PTB · apron · VVIP route · Immigration · MoFA / protocol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60" y="3785616"/>
            <a:ext cx="1325880" cy="5074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1" i="0">
                <a:solidFill>
                  <a:srgbClr val="3E5C76"/>
                </a:solidFill>
                <a:latin typeface="Segoe UI"/>
              </a:rPr>
              <a:t>BIG / CAPE / Aurecon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293108"/>
            <a:ext cx="868680" cy="5074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900" b="1" i="0">
                <a:solidFill>
                  <a:srgbClr val="A33D2E"/>
                </a:solidFill>
                <a:latin typeface="Segoe UI"/>
              </a:rPr>
              <a:t>IFC-05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34440" y="4293108"/>
            <a:ext cx="3611880" cy="5074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Landside Landscape / Plaza / Canopy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4293108"/>
            <a:ext cx="2606040" cy="5074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PTB entrances · roads · public realm · accessibility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60" y="4293108"/>
            <a:ext cx="1325880" cy="5074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1" i="0">
                <a:solidFill>
                  <a:srgbClr val="3E5C76"/>
                </a:solidFill>
                <a:latin typeface="Segoe UI"/>
              </a:rPr>
              <a:t>BIG / Aurecon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800600"/>
            <a:ext cx="868680" cy="5074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900" b="1" i="0">
                <a:solidFill>
                  <a:srgbClr val="A33D2E"/>
                </a:solidFill>
                <a:latin typeface="Segoe UI"/>
              </a:rPr>
              <a:t>IFC-06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440" y="4800600"/>
            <a:ext cx="3611880" cy="5074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Specialist Airport Systems / NSC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4800600"/>
            <a:ext cx="2606040" cy="5074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FAT/SAT/T&amp;C · O&amp;M · spares · cross-system interfaces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360" y="4800600"/>
            <a:ext cx="1325880" cy="5074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1" i="0">
                <a:solidFill>
                  <a:srgbClr val="3E5C76"/>
                </a:solidFill>
                <a:latin typeface="Segoe UI"/>
              </a:rPr>
              <a:t>CAPE / APMT / Specialists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308092"/>
            <a:ext cx="868680" cy="5074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900" b="1" i="0">
                <a:solidFill>
                  <a:srgbClr val="A33D2E"/>
                </a:solidFill>
                <a:latin typeface="Segoe UI"/>
              </a:rPr>
              <a:t>IFC-07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34440" y="5308092"/>
            <a:ext cx="3611880" cy="5074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Third-Party / Operator Facilities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5308092"/>
            <a:ext cx="2606040" cy="5074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Druk Air · BOC · DoAT · NCHM · future operator agreements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5308092"/>
            <a:ext cx="1325880" cy="5074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1" i="0">
                <a:solidFill>
                  <a:srgbClr val="3E5C76"/>
                </a:solidFill>
                <a:latin typeface="Segoe UI"/>
              </a:rPr>
              <a:t>APMT / CAPE / 3rd Parties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815584"/>
            <a:ext cx="868680" cy="5074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900" b="1" i="0">
                <a:solidFill>
                  <a:srgbClr val="A33D2E"/>
                </a:solidFill>
                <a:latin typeface="Segoe UI"/>
              </a:rPr>
              <a:t>IFC-08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34440" y="5815584"/>
            <a:ext cx="3611880" cy="5074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Reference / Information Only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5815584"/>
            <a:ext cx="2606040" cy="5074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Must be marked 'For Information Only' unless a Contract Document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5815584"/>
            <a:ext cx="1325880" cy="5074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1" i="0">
                <a:solidFill>
                  <a:srgbClr val="3E5C76"/>
                </a:solidFill>
                <a:latin typeface="Segoe UI"/>
              </a:rPr>
              <a:t>APMT / PMO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卷册结构  </a:t>
            </a:r>
            <a:r>
              <a:rPr sz="2200" b="1" i="0">
                <a:solidFill>
                  <a:srgbClr val="8C7464"/>
                </a:solidFill>
                <a:latin typeface="Segoe UI"/>
              </a:rPr>
              <a:t>Document Volume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每个 IFC 包采用同一卷册逻辑 (Volume 0~8)，PM/CS 与承包商可一致导航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481328"/>
            <a:ext cx="731520" cy="480059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81328"/>
            <a:ext cx="731520" cy="480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V0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481328"/>
            <a:ext cx="7635240" cy="480059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517904"/>
            <a:ext cx="2743200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6D594C"/>
                </a:solidFill>
                <a:latin typeface="Segoe UI"/>
              </a:rPr>
              <a:t>IFC Master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517904"/>
            <a:ext cx="502919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A493F"/>
                </a:solidFill>
                <a:latin typeface="Segoe UI"/>
              </a:rPr>
              <a:t>唯一受控登记册：列出 IFC 基线中的每一份图纸、规范、报告、模型与参考文件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25395"/>
            <a:ext cx="731520" cy="480059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25395"/>
            <a:ext cx="731520" cy="480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V1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025395"/>
            <a:ext cx="7635240" cy="4800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061972"/>
            <a:ext cx="2743200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6D594C"/>
                </a:solidFill>
                <a:latin typeface="Segoe UI"/>
              </a:rPr>
              <a:t>Governing / Contract 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061972"/>
            <a:ext cx="502919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A493F"/>
                </a:solidFill>
                <a:latin typeface="Segoe UI"/>
              </a:rPr>
              <a:t>Conditions of Contract · Particular Conditions · contract data · forms · clarifications &amp; addenda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69464"/>
            <a:ext cx="731520" cy="480059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569464"/>
            <a:ext cx="731520" cy="480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V2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2569464"/>
            <a:ext cx="7635240" cy="480059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2606040"/>
            <a:ext cx="2743200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6D594C"/>
                </a:solidFill>
                <a:latin typeface="Segoe UI"/>
              </a:rPr>
              <a:t>Technical Specifications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606040"/>
            <a:ext cx="502919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A493F"/>
                </a:solidFill>
                <a:latin typeface="Segoe UI"/>
              </a:rPr>
              <a:t>按包、专业、系统组织的全部技术规范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13532"/>
            <a:ext cx="731520" cy="480059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113532"/>
            <a:ext cx="731520" cy="480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V3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3113532"/>
            <a:ext cx="7635240" cy="4800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3150108"/>
            <a:ext cx="2743200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6D594C"/>
                </a:solidFill>
                <a:latin typeface="Segoe UI"/>
              </a:rPr>
              <a:t>BoQ / Pricing Schedules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150108"/>
            <a:ext cx="502919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A493F"/>
                </a:solidFill>
                <a:latin typeface="Segoe UI"/>
              </a:rPr>
              <a:t>BoQ · schedules of rates · provisional sums · PC items · measurement rules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57600"/>
            <a:ext cx="731520" cy="480059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657600"/>
            <a:ext cx="731520" cy="480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V4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3657600"/>
            <a:ext cx="7635240" cy="480059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3694176"/>
            <a:ext cx="2743200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6D594C"/>
                </a:solidFill>
                <a:latin typeface="Segoe UI"/>
              </a:rPr>
              <a:t>Drawings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694176"/>
            <a:ext cx="502919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A493F"/>
                </a:solidFill>
                <a:latin typeface="Segoe UI"/>
              </a:rPr>
              <a:t>按包、资产、专业、图纸类型分组的 IFC 图纸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01668"/>
            <a:ext cx="731520" cy="480059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201668"/>
            <a:ext cx="731520" cy="480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V5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4201668"/>
            <a:ext cx="7635240" cy="4800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4238244"/>
            <a:ext cx="2743200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6D594C"/>
                </a:solidFill>
                <a:latin typeface="Segoe UI"/>
              </a:rPr>
              <a:t>Reports / Site Information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238244"/>
            <a:ext cx="502919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A493F"/>
                </a:solidFill>
                <a:latin typeface="Segoe UI"/>
              </a:rPr>
              <a:t>SI · geotech · hydrology · ESIA · survey · existing utilities — 区分 'Contractual' vs 'For Info Only'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745736"/>
            <a:ext cx="731520" cy="480059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745736"/>
            <a:ext cx="731520" cy="480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V6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4745736"/>
            <a:ext cx="7635240" cy="480059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782312"/>
            <a:ext cx="2743200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6D594C"/>
                </a:solidFill>
                <a:latin typeface="Segoe UI"/>
              </a:rPr>
              <a:t>Project / GMC / Authority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782312"/>
            <a:ext cx="502919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A493F"/>
                </a:solidFill>
                <a:latin typeface="Segoe UI"/>
              </a:rPr>
              <a:t>GMC · sustainability · OHS · BIM/CDE · local workforce · authority &amp; aerodrome certification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289804"/>
            <a:ext cx="731520" cy="480059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289804"/>
            <a:ext cx="731520" cy="480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V7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5289804"/>
            <a:ext cx="7635240" cy="4800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80160" y="5326380"/>
            <a:ext cx="2743200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6D594C"/>
                </a:solidFill>
                <a:latin typeface="Segoe UI"/>
              </a:rPr>
              <a:t>BIM / Digital Deliverables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5326380"/>
            <a:ext cx="502919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A493F"/>
                </a:solidFill>
                <a:latin typeface="Segoe UI"/>
              </a:rPr>
              <a:t>IFC models · RVT/NWC/NWD/IFC · clash reports · model status · BEP · BIM QC · handover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833872"/>
            <a:ext cx="731520" cy="480059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833872"/>
            <a:ext cx="731520" cy="480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V8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3000" y="5833872"/>
            <a:ext cx="7635240" cy="480059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80160" y="5870448"/>
            <a:ext cx="2743200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6D594C"/>
                </a:solidFill>
                <a:latin typeface="Segoe UI"/>
              </a:rPr>
              <a:t>Interface &amp; Authority Register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0" y="5870448"/>
            <a:ext cx="502919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A493F"/>
                </a:solidFill>
                <a:latin typeface="Segoe UI"/>
              </a:rPr>
              <a:t>Interface matrix · authority tracker · stakeholder register · RFI/TQ close-out · deviation register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图纸与规范登记册  </a:t>
            </a:r>
            <a:r>
              <a:rPr sz="2200" b="1" i="0">
                <a:solidFill>
                  <a:srgbClr val="8C7464"/>
                </a:solidFill>
                <a:latin typeface="Segoe UI"/>
              </a:rPr>
              <a:t>Master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APMT 为每个 IFC 包维护的核心控制矩阵 — 这是 IFC 的单一事实来源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463040"/>
            <a:ext cx="4160520" cy="3977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9047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Package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49047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IFC-01 Airfield, IFC-02 PTB &amp; Landside 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97380"/>
            <a:ext cx="41605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2481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Asset / 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92481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Runway, Taxiway, Apron, PTB, RCL, Fuel Farm 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4160520" cy="3977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59151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Discipline /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359151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AR ST CV DR ME EL ICT AGL NAV MET BHS PBB SEC LS BIM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66060"/>
            <a:ext cx="41605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93491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Document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793491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Drawing · Spec · Schedule · Report · Model · Calc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00400"/>
            <a:ext cx="4160520" cy="3977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2783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Document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22783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Stable number — NOT dependent on 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34740"/>
            <a:ext cx="41605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6217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Document Title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366217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Full drawing or specification title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69079"/>
            <a:ext cx="4160520" cy="3977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96511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Revision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096511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A/B/C · Rev 0/1 · IFC-A/IFC-B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503420"/>
            <a:ext cx="41605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3085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453085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WIP · For Review · For Tender · IFC · Superseded · As-Built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937760"/>
            <a:ext cx="4160520" cy="3977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6519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IFC Baseline 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96519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Date included in the contractual IFC register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1463040"/>
            <a:ext cx="4160520" cy="3977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59" y="149047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Originator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49047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BIG · AUR · CAPE · CAI · MQD · 360 · D103i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1897380"/>
            <a:ext cx="41605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59" y="192481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Checker / Approver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192481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Designer checker · APMT reviewer · authority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2331720"/>
            <a:ext cx="4160520" cy="3977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59" y="2359151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Related Spec / BoQ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359151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Cross-ref to spec section &amp; BoQ item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7720" y="2766060"/>
            <a:ext cx="41605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9159" y="2793491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Related 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793491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BIM model file name &amp; revision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3200400"/>
            <a:ext cx="4160520" cy="3977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9159" y="322783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Authority Dependency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22783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BCAA · DoAT · MoIT · NCHM · BOC · airlines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17720" y="3634740"/>
            <a:ext cx="41605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09159" y="366217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Interface Dependency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366217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Airfield–PTB · PBB–Apron · BHS–MEP · ANS–DoAT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17720" y="4069079"/>
            <a:ext cx="4160520" cy="3977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9159" y="4096511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Contractual Status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4096511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Contract Doc · Ref Only · CDP · Provisional Sum · D&amp;B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17720" y="4503420"/>
            <a:ext cx="41605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09159" y="453085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Remarks / Open 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53085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Pending RFI · authority comment · clarification · deviation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关键接口与 Hold Points  </a:t>
            </a:r>
            <a:r>
              <a:rPr sz="2200" b="1" i="0">
                <a:solidFill>
                  <a:srgbClr val="8C7464"/>
                </a:solidFill>
                <a:latin typeface="Segoe UI"/>
              </a:rPr>
              <a:t>Key Interfaces &amp; Hold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跨包接口是 IFC 风险最集中的地方 — 在 V8 接口登记册中逐条登记与跟踪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1480" y="1554480"/>
            <a:ext cx="4114800" cy="132588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82296" cy="1325880"/>
          </a:xfrm>
          <a:prstGeom prst="rect">
            <a:avLst/>
          </a:prstGeom>
          <a:solidFill>
            <a:srgbClr val="A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64207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Airfield ↔ PTB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Apron / PBB / AVDGS geometry, levels and service connections between IFC-01 and IFC-02 must reconcile before either freezes.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554480"/>
            <a:ext cx="4114800" cy="132588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554480"/>
            <a:ext cx="82296" cy="132588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664207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PTB ↔ Landside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01168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Plaza, canopy, roads, drainage and utilities (IFC-02/05) tie to municipal road &amp; utilities — confirm boundary of supply.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63240"/>
            <a:ext cx="4114800" cy="132588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63240"/>
            <a:ext cx="82296" cy="132588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7296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Systems ↔ Building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2044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BHS–MEP, security screening, ICT containment and power for IFC-06 specialist systems must be coordinated with IFC-02/03.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3063240"/>
            <a:ext cx="4114800" cy="132588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3063240"/>
            <a:ext cx="82296" cy="1325880"/>
          </a:xfrm>
          <a:prstGeom prst="rect">
            <a:avLst/>
          </a:prstGeom>
          <a:solidFill>
            <a:srgbClr val="A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17296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Authority Hold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52044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BCAA / DoAT / NCHM approvals, flight calibration and aerodrome certification gate the airfield &amp; systems packages.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572000"/>
            <a:ext cx="4114800" cy="132588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572000"/>
            <a:ext cx="82296" cy="132588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8172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VVIP / Ceremonial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292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RCL ceremonial route, security, Immigration &amp; Customs (IFC-04) interface with PTB and apron — MoFA / protocol sign-off.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4572000"/>
            <a:ext cx="4114800" cy="132588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4572000"/>
            <a:ext cx="82296" cy="132588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68172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Third-Party Facilities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0292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Fuel farm, ground handling, cargo, catering (IFC-07) need utility, access and apron interfaces fixed with operators.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图号编码  </a:t>
            </a:r>
            <a:r>
              <a:rPr sz="2200" b="1" i="0">
                <a:solidFill>
                  <a:srgbClr val="8C7464"/>
                </a:solidFill>
                <a:latin typeface="Segoe UI"/>
              </a:rPr>
              <a:t>Drawing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稳定的图号不随文件名或发布日期改变 — GLU-[Package]-[Asset]-[Discipline]-[Type]-[Sequence]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1480" y="1463040"/>
            <a:ext cx="8275320" cy="566928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8275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GLU - [Package] - [Asset] - [Discipline] - [Type] - [Sequence]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48840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33D2E"/>
                </a:solidFill>
                <a:latin typeface="Segoe UI"/>
              </a:rPr>
              <a:t>示例 Examples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468880"/>
            <a:ext cx="4069080" cy="3931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496312"/>
            <a:ext cx="21488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GLU-P01-RWY-CV-PLN-0001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496312"/>
            <a:ext cx="1737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Airfield · Runway · Civil ·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98648"/>
            <a:ext cx="4069080" cy="3931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26079"/>
            <a:ext cx="21488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GLU-P01-APR-AGL-LAY-0010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926079"/>
            <a:ext cx="1737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Airfield · Apron · AGL · Layout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328415"/>
            <a:ext cx="4069080" cy="3931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55847"/>
            <a:ext cx="21488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GLU-P01-IBG-ME-SCH-0020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355847"/>
            <a:ext cx="1737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Integrated Building · Mech · Schedule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758183"/>
            <a:ext cx="4069080" cy="3931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85615"/>
            <a:ext cx="21488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GLU-P02-PTB-AR-PLN-0101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785615"/>
            <a:ext cx="1737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PTB · Architecture · Plan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187951"/>
            <a:ext cx="4069080" cy="3931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215383"/>
            <a:ext cx="21488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GLU-P02-PTB-ST-DTL-0205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215383"/>
            <a:ext cx="1737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PTB · Structure · Detail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617719"/>
            <a:ext cx="4069080" cy="3931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645151"/>
            <a:ext cx="21488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GLU-P02-LDS-CV-PLN-1001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4645151"/>
            <a:ext cx="1737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Landside · Civil · Plan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047487"/>
            <a:ext cx="4069080" cy="3931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74919"/>
            <a:ext cx="21488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GLU-P04-RCL-AR-SEC-0005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5074919"/>
            <a:ext cx="1737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RCL · Architecture · Section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477255"/>
            <a:ext cx="4069080" cy="393192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504687"/>
            <a:ext cx="21488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GLU-P06-BHS-SY-DIA-0001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5504687"/>
            <a:ext cx="1737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Specialist · BHS · System Diagram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21488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33D2E"/>
                </a:solidFill>
                <a:latin typeface="Segoe UI"/>
              </a:rPr>
              <a:t>专业代码 Discipline Codes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2468880"/>
            <a:ext cx="4023360" cy="219456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247802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247802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Architecture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2702052"/>
            <a:ext cx="40233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27111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271119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Structure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2935224"/>
            <a:ext cx="4023360" cy="219456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29443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CV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294436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Civil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40" y="3168396"/>
            <a:ext cx="40233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317754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DR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49240" y="317754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Drainage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3401568"/>
            <a:ext cx="4023360" cy="219456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0" y="341071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341071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Mechanical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63440" y="3634740"/>
            <a:ext cx="40233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0" y="364388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49240" y="364388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Electrical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3440" y="3867912"/>
            <a:ext cx="4023360" cy="219456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0" y="387705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FP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49240" y="387705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Fire Protection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3440" y="4101084"/>
            <a:ext cx="40233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80" y="41102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ICT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49240" y="411022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ICT / ELV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63440" y="4334256"/>
            <a:ext cx="4023360" cy="219456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54880" y="434340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AGL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49240" y="43434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Airfield Ground Lighting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4567428"/>
            <a:ext cx="40233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0" y="457657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NAV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49240" y="457657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NAVAIDS / ANS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63440" y="4800600"/>
            <a:ext cx="4023360" cy="219456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54880" y="480974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MET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49240" y="480974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Meteorological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63440" y="5033772"/>
            <a:ext cx="40233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54880" y="504291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BHS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49240" y="504291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Baggage / HBS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63440" y="5266944"/>
            <a:ext cx="4023360" cy="219456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54880" y="527608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PBB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49240" y="527608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Boarding Bridge / AVDGS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63440" y="5500116"/>
            <a:ext cx="40233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54880" y="55092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SEC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49240" y="550926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Security / Access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63440" y="5733288"/>
            <a:ext cx="4023360" cy="219456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54880" y="57424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LS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49240" y="574243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Landscape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63440" y="5966460"/>
            <a:ext cx="40233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54880" y="597560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BIM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49240" y="597560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Digital Model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63440" y="6199632"/>
            <a:ext cx="4023360" cy="219456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754880" y="62087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GEN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49240" y="620877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General / Common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规范编码  </a:t>
            </a:r>
            <a:r>
              <a:rPr sz="2200" b="1" i="0">
                <a:solidFill>
                  <a:srgbClr val="8C7464"/>
                </a:solidFill>
                <a:latin typeface="Segoe UI"/>
              </a:rPr>
              <a:t>Specification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以 CSI MasterFormat 为参照，叠加机场专用章节 — 不要把机场系统硬塞进纯建筑分项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14173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CSI MasterFormat (参照 reference)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4069080" cy="21488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91640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Procurement &amp; 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915668"/>
            <a:ext cx="4069080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15668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15668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General · doc control · BIM/CDE · QA/QC · HSE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139696"/>
            <a:ext cx="4069080" cy="21488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39696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39696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Existing conditions · demolition · utilities diversion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363724"/>
            <a:ext cx="4069080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363724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363724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Concrete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587752"/>
            <a:ext cx="4069080" cy="21488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587752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587752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Masonry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811780"/>
            <a:ext cx="4069080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11780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811780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Metals / structural / green steel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035808"/>
            <a:ext cx="4069080" cy="21488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035808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035808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Timber / Mass Engineered Timber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259836"/>
            <a:ext cx="4069080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259836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259836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Roofing · waterproofing · façade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483864"/>
            <a:ext cx="4069080" cy="21488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483864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483864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Doors · windows · glazing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707891"/>
            <a:ext cx="4069080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707891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3707891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Finishes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931920"/>
            <a:ext cx="4069080" cy="21488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931920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3931920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Signage · wayfinding · specialties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155948"/>
            <a:ext cx="4069080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155948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4155948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Airport &amp; specialist equipment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379976"/>
            <a:ext cx="4069080" cy="21488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379976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4379976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Fire protection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4604004"/>
            <a:ext cx="4069080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604004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" y="4604004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Plumbing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4828031"/>
            <a:ext cx="4069080" cy="21488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4828031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4828031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HVAC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5052060"/>
            <a:ext cx="4069080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052060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" y="5052060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Electrical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5276088"/>
            <a:ext cx="4069080" cy="21488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5276088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27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" y="5276088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Communications / ICT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5500116"/>
            <a:ext cx="4069080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5500116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28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" y="5500116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Security / ELV / CCTV / access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5724144"/>
            <a:ext cx="4069080" cy="21488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5724144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31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" y="5724144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Earthworks · ground improvement · slopes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5948172"/>
            <a:ext cx="4069080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5948172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32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" y="5948172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Pavement · roads · landscape · external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6172200"/>
            <a:ext cx="4069080" cy="21488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6172200"/>
            <a:ext cx="50292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33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" y="6172200"/>
            <a:ext cx="3383280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Utilities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63440" y="14173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A33D2E"/>
                </a:solidFill>
                <a:latin typeface="Segoe UI"/>
              </a:rPr>
              <a:t>机场专用分项 Airport-specific (40-AF ~ 48-OR)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63440" y="1691640"/>
            <a:ext cx="4023360" cy="411480"/>
          </a:xfrm>
          <a:prstGeom prst="rect">
            <a:avLst/>
          </a:prstGeom>
          <a:solidFill>
            <a:srgbClr val="F7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54880" y="1719072"/>
            <a:ext cx="7315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33D2E"/>
                </a:solidFill>
                <a:latin typeface="Segoe UI"/>
              </a:rPr>
              <a:t>40-AF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0" y="1719072"/>
            <a:ext cx="31546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Airfield civil works, geometry &amp; pavements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63440" y="2148840"/>
            <a:ext cx="4023360" cy="411480"/>
          </a:xfrm>
          <a:prstGeom prst="rect">
            <a:avLst/>
          </a:prstGeom>
          <a:solidFill>
            <a:srgbClr val="F7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54880" y="2176272"/>
            <a:ext cx="7315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33D2E"/>
                </a:solidFill>
                <a:latin typeface="Segoe UI"/>
              </a:rPr>
              <a:t>41-AF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0" y="2176272"/>
            <a:ext cx="31546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Airfield drainage, culverts, river-crossing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63440" y="2606040"/>
            <a:ext cx="4023360" cy="411480"/>
          </a:xfrm>
          <a:prstGeom prst="rect">
            <a:avLst/>
          </a:prstGeom>
          <a:solidFill>
            <a:srgbClr val="F7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54880" y="2633472"/>
            <a:ext cx="7315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33D2E"/>
                </a:solidFill>
                <a:latin typeface="Segoe UI"/>
              </a:rPr>
              <a:t>42-AF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0" y="2633472"/>
            <a:ext cx="31546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Airfield markings, signage &amp; visual aids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63440" y="3063240"/>
            <a:ext cx="4023360" cy="411480"/>
          </a:xfrm>
          <a:prstGeom prst="rect">
            <a:avLst/>
          </a:prstGeom>
          <a:solidFill>
            <a:srgbClr val="F7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54880" y="3090672"/>
            <a:ext cx="7315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33D2E"/>
                </a:solidFill>
                <a:latin typeface="Segoe UI"/>
              </a:rPr>
              <a:t>43-AF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0" y="3090672"/>
            <a:ext cx="31546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Airfield Ground Lighting &amp; ALCMS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63440" y="3520440"/>
            <a:ext cx="4023360" cy="411480"/>
          </a:xfrm>
          <a:prstGeom prst="rect">
            <a:avLst/>
          </a:prstGeom>
          <a:solidFill>
            <a:srgbClr val="F7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54880" y="3547872"/>
            <a:ext cx="7315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33D2E"/>
                </a:solidFill>
                <a:latin typeface="Segoe UI"/>
              </a:rPr>
              <a:t>44-AF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0" y="3547872"/>
            <a:ext cx="31546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NAVAIDS, ANS &amp; airspace infrastructure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663440" y="3977639"/>
            <a:ext cx="4023360" cy="411480"/>
          </a:xfrm>
          <a:prstGeom prst="rect">
            <a:avLst/>
          </a:prstGeom>
          <a:solidFill>
            <a:srgbClr val="F7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54880" y="4005072"/>
            <a:ext cx="7315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33D2E"/>
                </a:solidFill>
                <a:latin typeface="Segoe UI"/>
              </a:rPr>
              <a:t>45-AF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005072"/>
            <a:ext cx="31546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Meteorological systems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63440" y="4434840"/>
            <a:ext cx="4023360" cy="411480"/>
          </a:xfrm>
          <a:prstGeom prst="rect">
            <a:avLst/>
          </a:prstGeom>
          <a:solidFill>
            <a:srgbClr val="F7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54880" y="4462272"/>
            <a:ext cx="7315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33D2E"/>
                </a:solidFill>
                <a:latin typeface="Segoe UI"/>
              </a:rPr>
              <a:t>46-AF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0" y="4462272"/>
            <a:ext cx="31546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ARFF facilities &amp; fire training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63440" y="4892040"/>
            <a:ext cx="4023360" cy="411480"/>
          </a:xfrm>
          <a:prstGeom prst="rect">
            <a:avLst/>
          </a:prstGeom>
          <a:solidFill>
            <a:srgbClr val="F7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54880" y="4919472"/>
            <a:ext cx="7315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33D2E"/>
                </a:solidFill>
                <a:latin typeface="Segoe UI"/>
              </a:rPr>
              <a:t>47-AS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86400" y="4919472"/>
            <a:ext cx="31546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Airport specialist: BHS/HBS/PBB/AVDGS/PAVA/FIDS/PSS/SACS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63440" y="5349240"/>
            <a:ext cx="4023360" cy="411480"/>
          </a:xfrm>
          <a:prstGeom prst="rect">
            <a:avLst/>
          </a:prstGeom>
          <a:solidFill>
            <a:srgbClr val="F7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54880" y="5376672"/>
            <a:ext cx="7315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33D2E"/>
                </a:solidFill>
                <a:latin typeface="Segoe UI"/>
              </a:rPr>
              <a:t>48-OR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0" y="5376672"/>
            <a:ext cx="31546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Testing, commissioning, ORAT, certification &amp; handover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IFC 发布检查清单  </a:t>
            </a:r>
            <a:r>
              <a:rPr sz="2200" b="1" i="0">
                <a:solidFill>
                  <a:srgbClr val="8C7464"/>
                </a:solidFill>
                <a:latin typeface="Segoe UI"/>
              </a:rPr>
              <a:t>Minimum IFC Issue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任何图纸或规范标记为 IFC 之前，团队必须逐项确认 — 全部为强制 Required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1480" y="1508760"/>
            <a:ext cx="4114800" cy="5120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27631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列入 IFC 主登记册  In IFC master register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508760"/>
            <a:ext cx="4114800" cy="5120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627631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600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59" y="1554480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版本明确并已冻结  Revision identified &amp; frozen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112264"/>
            <a:ext cx="41148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231136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0370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157984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设计专业 checker / approver 完成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2112264"/>
            <a:ext cx="41148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2231136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20370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59" y="2157984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APMT 审查完成  APMT review completed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715768"/>
            <a:ext cx="4114800" cy="5120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834639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80720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2761487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关键 RFI / TQ 已关闭或列为待澄清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2715768"/>
            <a:ext cx="4114800" cy="5120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80" y="2834639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280720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59" y="2761487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关联规范已交叉引用  Spec cross-referenced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319272"/>
            <a:ext cx="41148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438144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1071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3364991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关联 BoQ / 计价项已交叉引用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3319272"/>
            <a:ext cx="41148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54880" y="3438144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341071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59" y="3364991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BIM 模型版本与图纸发布一致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922776"/>
            <a:ext cx="4114800" cy="5120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041648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014215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3968496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已检查与其他包的接口  Interface checked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7720" y="3922776"/>
            <a:ext cx="4114800" cy="5120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54880" y="4041648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4014215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6359" y="3968496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已记录当局/相关方依赖  Authority dependency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4526280"/>
            <a:ext cx="41148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4645152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6177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4572000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承包商设计部分已明确标识 (CDP)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17720" y="4526280"/>
            <a:ext cx="41148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54880" y="4645152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0" y="46177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66359" y="4572000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暂定金额/性能规范已明确标识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129783"/>
            <a:ext cx="4114800" cy="5120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0" y="5248655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221223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" y="5175503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已标记 'Contract Document' 或 'For Info Only'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17720" y="5129783"/>
            <a:ext cx="4114800" cy="5120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754880" y="5248655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0" y="5221223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66359" y="5175503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被取代文件已移出合同基线  Superseded removed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牵头责任  </a:t>
            </a:r>
            <a:r>
              <a:rPr sz="2200" b="1" i="0">
                <a:solidFill>
                  <a:srgbClr val="8C7464"/>
                </a:solidFill>
                <a:latin typeface="Segoe UI"/>
              </a:rPr>
              <a:t>Lead Ownership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每个包都有明确的牵头方 — APMT 统筹登记册、接口矩阵与发布门槛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1480" y="1554480"/>
            <a:ext cx="8275320" cy="64008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91440" cy="640080"/>
          </a:xfrm>
          <a:prstGeom prst="rect">
            <a:avLst/>
          </a:prstGeom>
          <a:solidFill>
            <a:srgbClr val="A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201168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APMT / PMO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00200"/>
            <a:ext cx="429768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Overall IFC governance · master register (V0) · interface &amp; authority registers (V8) · IFC issue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00200"/>
            <a:ext cx="146304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A33D2E"/>
                </a:solidFill>
                <a:latin typeface="Segoe UI"/>
              </a:rPr>
              <a:t>IFC-00 全包统筹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13432"/>
            <a:ext cx="82753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313432"/>
            <a:ext cx="91440" cy="64008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59151"/>
            <a:ext cx="201168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59151"/>
            <a:ext cx="429768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Airfield &amp; integrated building · specialist airport systems coordination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359151"/>
            <a:ext cx="146304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3E5C76"/>
                </a:solidFill>
                <a:latin typeface="Segoe UI"/>
              </a:rPr>
              <a:t>IFC-01 · 06 · 07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072384"/>
            <a:ext cx="8275320" cy="64008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072384"/>
            <a:ext cx="91440" cy="64008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18103"/>
            <a:ext cx="201168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BIG (Architect)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118103"/>
            <a:ext cx="429768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PTB &amp; landside lead design · GA Terminal / RCL · landscape &amp; plaza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118103"/>
            <a:ext cx="146304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3E5C76"/>
                </a:solidFill>
                <a:latin typeface="Segoe UI"/>
              </a:rPr>
              <a:t>IFC-02 · 04 · 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831335"/>
            <a:ext cx="82753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831335"/>
            <a:ext cx="91440" cy="640080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77055"/>
            <a:ext cx="201168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Aurecon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877055"/>
            <a:ext cx="429768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Engineering across PTB, annex, RCL, landscape and supporting disciplines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877055"/>
            <a:ext cx="146304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IFC-02 · 03 · 04 · 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590288"/>
            <a:ext cx="8275320" cy="64008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590288"/>
            <a:ext cx="91440" cy="640080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636007"/>
            <a:ext cx="201168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D103i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636007"/>
            <a:ext cx="429768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PTB annex / operational support buildings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636007"/>
            <a:ext cx="146304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IFC-03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349240"/>
            <a:ext cx="82753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5349240"/>
            <a:ext cx="91440" cy="64008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94959"/>
            <a:ext cx="201168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QS / Specialists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394959"/>
            <a:ext cx="429768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BoQ &amp; pricing (V3) · specialist system designers for NSC packages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394959"/>
            <a:ext cx="146304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E68A00"/>
                </a:solidFill>
                <a:latin typeface="Segoe UI"/>
              </a:rPr>
              <a:t>IFC-00 · 06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工作流程  </a:t>
            </a:r>
            <a:r>
              <a:rPr sz="2200" b="1" i="0">
                <a:solidFill>
                  <a:srgbClr val="8C7464"/>
                </a:solidFill>
                <a:latin typeface="Segoe UI"/>
              </a:rPr>
              <a:t>CDE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IFC 建立在 GLU 现有 PMO 数据室之上 — WIP → Issued → Submission → Milestone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691640"/>
            <a:ext cx="1874519" cy="1005840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WIP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Segoe UI"/>
              </a:rPr>
              <a:t>进行中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70632"/>
            <a:ext cx="187451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5A493F"/>
                </a:solidFill>
                <a:latin typeface="Segoe UI"/>
              </a:rPr>
              <a:t>Designer working files · not shared as contractual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029968"/>
            <a:ext cx="228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8C7464"/>
                </a:solidFill>
                <a:latin typeface="Segoe UI"/>
              </a:rPr>
              <a:t>›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691640"/>
            <a:ext cx="1874519" cy="100584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Issued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Segoe UI"/>
              </a:rPr>
              <a:t>已发布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770632"/>
            <a:ext cx="187451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5A493F"/>
                </a:solidFill>
                <a:latin typeface="Segoe UI"/>
              </a:rPr>
              <a:t>Checked &amp; approved · shared via CDE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029968"/>
            <a:ext cx="228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8C7464"/>
                </a:solidFill>
                <a:latin typeface="Segoe U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79" y="1691640"/>
            <a:ext cx="1874519" cy="100584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Submission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Segoe UI"/>
              </a:rPr>
              <a:t>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770632"/>
            <a:ext cx="187451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5A493F"/>
                </a:solidFill>
                <a:latin typeface="Segoe UI"/>
              </a:rPr>
              <a:t>Formal submission to APMT / 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399" y="2029968"/>
            <a:ext cx="228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8C7464"/>
                </a:solidFill>
                <a:latin typeface="Segoe UI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7999" y="1691640"/>
            <a:ext cx="1874519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Milestone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Review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Segoe UI"/>
              </a:rPr>
              <a:t>里程碑审查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7999" y="2770632"/>
            <a:ext cx="187451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5A493F"/>
                </a:solidFill>
                <a:latin typeface="Segoe UI"/>
              </a:rPr>
              <a:t>Aligned to scope, codes, masterplan, safety, constructability, QA/QC, schedule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23360"/>
            <a:ext cx="8275320" cy="96012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D594C"/>
                </a:solidFill>
                <a:latin typeface="Segoe UI"/>
              </a:rPr>
              <a:t>沿用现有规则 Build on existing PMO conventions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493F"/>
                </a:solidFill>
                <a:latin typeface="Segoe UI"/>
              </a:rPr>
              <a:t>文件命名按 date · project · originator · role · content · revision；IFC 图号则使用稳定编号 (见 Slide 9)。复用现有 'For Construction Drawing/Models Packages'、材料规范与 BIM 交付框架 (V7)。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166360"/>
            <a:ext cx="8275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493F"/>
                </a:solidFill>
                <a:latin typeface="Segoe UI"/>
              </a:rPr>
              <a:t>里程碑审查门槛 Milestone gate：deliverables 须满足 scope · project goals · international codes · masterplan standards · design safety · constructability · design risk · coordination · QA/QC · schedule — 通过后方可进入 IFC 发布检查清单 (Slide 11)。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下一步行动  </a:t>
            </a:r>
            <a:r>
              <a:rPr sz="2200" b="1" i="0">
                <a:solidFill>
                  <a:srgbClr val="8C7464"/>
                </a:solidFill>
                <a:latin typeface="Segoe U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对齐后两周内启动 — 以 IFC-00 主登记册与编码标准为先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1480" y="1554480"/>
            <a:ext cx="8275320" cy="73152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A33D2E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2763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D594C"/>
                </a:solidFill>
                <a:latin typeface="Segoe UI"/>
              </a:rPr>
              <a:t>锁定组织原则与编码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385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Confirm Package→Asset→Discipline→Type→Number→Rev as the single principle; freeze drawing &amp; spec coding (Slide 4/9/10).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3E5C76"/>
                </a:solidFill>
                <a:latin typeface="Segoe UI"/>
              </a:rPr>
              <a:t>All / APMT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Week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95728"/>
            <a:ext cx="82753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95728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A33D2E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688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D594C"/>
                </a:solidFill>
                <a:latin typeface="Segoe UI"/>
              </a:rPr>
              <a:t>建立 IFC 主登记册 (V0)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7977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Stand up the master register with all 17 control fields; one register per package, owned by APMT.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8716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3E5C76"/>
                </a:solidFill>
                <a:latin typeface="Segoe UI"/>
              </a:rPr>
              <a:t>APMT / PMO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0720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Week 1-2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236976"/>
            <a:ext cx="8275320" cy="73152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236976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A33D2E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31012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D594C"/>
                </a:solidFill>
                <a:latin typeface="Segoe UI"/>
              </a:rPr>
              <a:t>填充工程包矩阵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62102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Each lead populates IFC-00~08 scope, disciplines, interfaces and document lists (Slide 5).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32841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3E5C76"/>
                </a:solidFill>
                <a:latin typeface="Segoe UI"/>
              </a:rPr>
              <a:t>CAPE/BIG/Aurecon/D103i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484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Week 2-3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078224"/>
            <a:ext cx="82753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078224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A33D2E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151376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D594C"/>
                </a:solidFill>
                <a:latin typeface="Segoe UI"/>
              </a:rPr>
              <a:t>开启接口与当局登记册 (V8)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46227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Log every cross-package interface and authority hold point; start BCAA/DoAT dependency tracking.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169663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3E5C76"/>
                </a:solidFill>
                <a:latin typeface="Segoe UI"/>
              </a:rPr>
              <a:t>APMT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897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Week 2-3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919472"/>
            <a:ext cx="8275320" cy="73152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919472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A33D2E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99262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D594C"/>
                </a:solidFill>
                <a:latin typeface="Segoe UI"/>
              </a:rPr>
              <a:t>试运行 IFC 发布门槛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3035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Dry-run the 14-point issue checklist on a sample drawing set before the first contractual IFC freeze.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01091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3E5C76"/>
                </a:solidFill>
                <a:latin typeface="Segoe UI"/>
              </a:rPr>
              <a:t>All leads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3309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Week 3-4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